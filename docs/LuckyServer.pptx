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2" r:id="rId2"/>
    <p:sldId id="257" r:id="rId3"/>
    <p:sldId id="258" r:id="rId4"/>
    <p:sldId id="259" r:id="rId5"/>
    <p:sldId id="260" r:id="rId6"/>
    <p:sldId id="261" r:id="rId7"/>
    <p:sldId id="268" r:id="rId8"/>
    <p:sldId id="265" r:id="rId9"/>
    <p:sldId id="263" r:id="rId10"/>
    <p:sldId id="267" r:id="rId11"/>
    <p:sldId id="264" r:id="rId12"/>
    <p:sldId id="266" r:id="rId1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9A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84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1DD1078-0959-4EAF-8C52-F611DF7E5D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F1BC978E-583E-4F41-B445-A97B7B2630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F3A6EB7-E51C-466A-BC87-A2C11E59FD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8C14AD-157C-4B19-B926-4C213759CBF9}" type="datetimeFigureOut">
              <a:rPr lang="zh-CN" altLang="en-US" smtClean="0"/>
              <a:t>2024/10/21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43D3150-F1DD-4249-BA76-0A0696896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934F03F-06FB-4317-B3FC-66DF88EBC2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5C274-C3B8-4449-B497-FD264158C7A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699391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56C8C67-0918-434D-BCF2-9786B8E796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A08C042-3F60-46CA-B1FB-9A78FBEEAC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14F6A20-0CA8-4F0B-88B3-55552F74D8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8C14AD-157C-4B19-B926-4C213759CBF9}" type="datetimeFigureOut">
              <a:rPr lang="zh-CN" altLang="en-US" smtClean="0"/>
              <a:t>2024/10/21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70F42F8-1DB5-4D11-8645-FCE56BE30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571421B-AAF1-4AC2-A9A4-19B2B651D3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5C274-C3B8-4449-B497-FD264158C7A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832007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933EAB6-D641-4326-8C73-2C6616D87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72F0C95-752E-4A14-85FE-C7AA6FE0A4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F1BED3A-E180-43FA-B2D0-24DDC8EE0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8C14AD-157C-4B19-B926-4C213759CBF9}" type="datetimeFigureOut">
              <a:rPr lang="zh-CN" altLang="en-US" smtClean="0"/>
              <a:t>2024/10/21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3C50FA6-F06D-4423-A71C-22B9B1F17A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16BEBAC-BAB7-4F73-BE6E-199F79607F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5C274-C3B8-4449-B497-FD264158C7A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615637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D02C949-5B27-4734-8EC5-69F02CA4D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C368F8E-58BB-48D5-8756-2E2D6FBB8E6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13FADAD-14CC-4B83-9EC9-82A5FD8937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E6014ED-284E-4AF0-A328-6964CE3F2B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8C14AD-157C-4B19-B926-4C213759CBF9}" type="datetimeFigureOut">
              <a:rPr lang="zh-CN" altLang="en-US" smtClean="0"/>
              <a:t>2024/10/21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E9BC95D-2A0F-4C39-91F3-10F2427B74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33706A1-2369-49E9-93DE-C562A880C8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5C274-C3B8-4449-B497-FD264158C7A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241578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6801D93-8333-4FDE-B059-D1C7D19061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09F1445-6DCB-4459-B290-C0377DA72B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D37BC6C-A5C2-4B10-AC4E-AF7B127552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50B32D58-EC01-44F0-BB13-BF659C10D4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9011EDE-2FA2-4FC3-A6A9-871A29C9941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E6D7107A-A723-4DF8-8B0B-092F402B5D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8C14AD-157C-4B19-B926-4C213759CBF9}" type="datetimeFigureOut">
              <a:rPr lang="zh-CN" altLang="en-US" smtClean="0"/>
              <a:t>2024/10/21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B20FBCEA-6A34-45E3-8179-2A68592ABA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EA730714-8F0C-4C5E-A882-7333A8BC0D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5C274-C3B8-4449-B497-FD264158C7A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5293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4F90A43-8177-477E-8A37-C620348DEC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B628E558-2967-44D0-B958-8CA99221C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8C14AD-157C-4B19-B926-4C213759CBF9}" type="datetimeFigureOut">
              <a:rPr lang="zh-CN" altLang="en-US" smtClean="0"/>
              <a:t>2024/10/21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13D1704E-3546-468F-8561-364B3CFD26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0F941A84-966E-40F9-A540-92F0EF39FB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5C274-C3B8-4449-B497-FD264158C7A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824352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769FA1EE-3AD8-44A4-AFC8-7D6F601A7A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8C14AD-157C-4B19-B926-4C213759CBF9}" type="datetimeFigureOut">
              <a:rPr lang="zh-CN" altLang="en-US" smtClean="0"/>
              <a:t>2024/10/21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83AB701-775C-4C5D-AA85-FECDDA0AFB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88412EA-C8EE-4041-84D2-2B29D057F0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5C274-C3B8-4449-B497-FD264158C7A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353970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A549C59-BCFB-44C9-B58D-57700FAA3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2A8ABF1-2EBE-4472-A967-2DBF9C40DA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98618D1-EECF-4270-B0F7-011199ED53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3556DA1-7BD5-4AF1-8969-CBE0A2E40F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8C14AD-157C-4B19-B926-4C213759CBF9}" type="datetimeFigureOut">
              <a:rPr lang="zh-CN" altLang="en-US" smtClean="0"/>
              <a:t>2024/10/21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0B06826-2186-40C6-A528-2668CB3E51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A730101-13C6-4B23-9708-BBF4FA3429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5C274-C3B8-4449-B497-FD264158C7A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252158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9A8610F-0DA9-4C73-A836-6909C7633D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BADFEECD-E34F-445A-A7AF-42D28F6159E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537B740-A6D0-4C29-A8EC-5E7004CB71D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D8102BA-B13B-46A2-8F80-103EFC3C9A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8C14AD-157C-4B19-B926-4C213759CBF9}" type="datetimeFigureOut">
              <a:rPr lang="zh-CN" altLang="en-US" smtClean="0"/>
              <a:t>2024/10/21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9EEE465-A58A-43C7-B99D-C743EF39F3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206FCDE-A6D0-4A5E-8D58-523ECEEBB4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5C274-C3B8-4449-B497-FD264158C7A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268016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D2BA35F-EB0E-4435-97DB-04AF17077B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FB42F76-1F99-407C-974F-F79E54CD2C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A938FDD-E98D-4674-ACBE-3B44AE65CF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8C14AD-157C-4B19-B926-4C213759CBF9}" type="datetimeFigureOut">
              <a:rPr lang="zh-CN" altLang="en-US" smtClean="0"/>
              <a:t>2024/10/21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0650BBE-7493-48AE-A0FB-B68A027600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AF40E7F-C4BC-480E-A775-4A966BD997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5C274-C3B8-4449-B497-FD264158C7A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637859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617CB05B-7C17-4F18-AEF4-C6482ABF6AE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F05FDCFC-1ACC-4020-89AC-60C617EBEF2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44A8DB3-0AA3-472B-8F3F-2AB343AB4A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8C14AD-157C-4B19-B926-4C213759CBF9}" type="datetimeFigureOut">
              <a:rPr lang="zh-CN" altLang="en-US" smtClean="0"/>
              <a:t>2024/10/21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FEB001D-6750-4B52-9216-6A26D3D00A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40A9F3B-A032-48AA-B27F-24ABAC024D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5C274-C3B8-4449-B497-FD264158C7A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919676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204274F7-5BDE-4B0B-BFD1-0F067ED6FC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8D75B38-B569-426C-9A35-5A2C8D3CB4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2BF6249-F31C-4571-AC7C-D635ADD146F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8C14AD-157C-4B19-B926-4C213759CBF9}" type="datetimeFigureOut">
              <a:rPr lang="zh-CN" altLang="en-US" smtClean="0"/>
              <a:t>2024/10/21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29C0785-3CE2-44C7-9F14-9B4D0C28D4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1BADAE6-DA90-40BF-8D79-40BE3A93AF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65C274-C3B8-4449-B497-FD264158C7A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406439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zh-CN" altLang="en-US" sz="3600" b="1" dirty="0">
                <a:latin typeface="方正大标宋简体" panose="02000000000000000000" charset="-122"/>
                <a:ea typeface="方正大标宋简体" panose="02000000000000000000" charset="-122"/>
              </a:rPr>
              <a:t>《系统设计与开发实践》结对项目</a:t>
            </a:r>
            <a:br>
              <a:rPr lang="en-US" altLang="zh-CN" sz="3600" b="1" dirty="0">
                <a:latin typeface="方正大标宋简体" panose="02000000000000000000" charset="-122"/>
                <a:ea typeface="方正大标宋简体" panose="02000000000000000000" charset="-122"/>
              </a:rPr>
            </a:br>
            <a:r>
              <a:rPr lang="zh-CN" altLang="en-US" sz="3600" b="1" dirty="0">
                <a:latin typeface="方正大标宋简体" panose="02000000000000000000" charset="-122"/>
                <a:ea typeface="方正大标宋简体" panose="02000000000000000000" charset="-122"/>
              </a:rPr>
              <a:t>开发经验分享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952360"/>
            <a:ext cx="9144000" cy="1655762"/>
          </a:xfrm>
        </p:spPr>
        <p:txBody>
          <a:bodyPr>
            <a:normAutofit/>
          </a:bodyPr>
          <a:lstStyle/>
          <a:p>
            <a:r>
              <a:rPr lang="en-US" altLang="zh-CN" dirty="0">
                <a:latin typeface="阿里巴巴普惠体 2.0 55 Regular" panose="00020600040101010101" charset="-122"/>
                <a:ea typeface="阿里巴巴普惠体 2.0 55 Regular" panose="00020600040101010101" charset="-122"/>
              </a:rPr>
              <a:t>Lucky Server - a Toy Web Server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A8CA2B9-F072-4965-91E6-FBBA9EF4CE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>
                <a:latin typeface="方正大标宋简体" panose="02010601030101010101" pitchFamily="2" charset="-122"/>
                <a:ea typeface="方正大标宋简体" panose="02010601030101010101" pitchFamily="2" charset="-122"/>
                <a:cs typeface="Times New Roman" panose="02020603050405020304" pitchFamily="18" charset="0"/>
              </a:rPr>
              <a:t>Summary</a:t>
            </a:r>
            <a:endParaRPr lang="zh-CN" altLang="en-US" b="1" dirty="0">
              <a:latin typeface="方正大标宋简体" panose="02010601030101010101" pitchFamily="2" charset="-122"/>
              <a:ea typeface="方正大标宋简体" panose="02010601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A157EBC-8EA8-4B5C-8674-DE1659432B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zh-CN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⭐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technologies we used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Epoll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Reactor Pattern</a:t>
            </a:r>
          </a:p>
          <a:p>
            <a:pPr marL="0" indent="0">
              <a:buNone/>
            </a:pP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zh-CN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⭐ 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Our engineering experience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altLang="zh-CN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ake some little test tools during developing our project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 GitHub for version management 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 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Valgrind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check memory leak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 Google's C++ code style guide to standardize coding 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77727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965D7AB-2A40-449F-954F-3429687B9F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>
                <a:latin typeface="方正大标宋简体" panose="02010601030101010101" pitchFamily="2" charset="-122"/>
                <a:ea typeface="方正大标宋简体" panose="02010601030101010101" pitchFamily="2" charset="-122"/>
              </a:rPr>
              <a:t>Technology:</a:t>
            </a:r>
            <a:r>
              <a:rPr lang="zh-CN" altLang="en-US" b="1" dirty="0">
                <a:latin typeface="方正大标宋简体" panose="02010601030101010101" pitchFamily="2" charset="-122"/>
                <a:ea typeface="方正大标宋简体" panose="02010601030101010101" pitchFamily="2" charset="-122"/>
              </a:rPr>
              <a:t> </a:t>
            </a:r>
            <a:r>
              <a:rPr lang="en-US" altLang="zh-CN" b="1" dirty="0">
                <a:latin typeface="方正大标宋简体" panose="02010601030101010101" pitchFamily="2" charset="-122"/>
                <a:ea typeface="方正大标宋简体" panose="02010601030101010101" pitchFamily="2" charset="-122"/>
              </a:rPr>
              <a:t>Epoll</a:t>
            </a:r>
            <a:endParaRPr lang="zh-CN" altLang="en-US" b="1" dirty="0">
              <a:latin typeface="方正大标宋简体" panose="02010601030101010101" pitchFamily="2" charset="-122"/>
              <a:ea typeface="方正大标宋简体" panose="02010601030101010101" pitchFamily="2" charset="-122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35D709B-CA66-46E1-99BC-5AE7CAE9C3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846615" cy="4351338"/>
          </a:xfrm>
        </p:spPr>
        <p:txBody>
          <a:bodyPr/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What’s the disadvantage of simple </a:t>
            </a:r>
            <a:r>
              <a:rPr lang="en-US" altLang="zh-CN" b="1" dirty="0">
                <a:solidFill>
                  <a:srgbClr val="009A9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synchronous blocking network I/O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?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Just one connection can block our process!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73E38AD-5C28-4E0C-A5E5-A3D20B27E7D9}"/>
              </a:ext>
            </a:extLst>
          </p:cNvPr>
          <p:cNvSpPr txBox="1"/>
          <p:nvPr/>
        </p:nvSpPr>
        <p:spPr>
          <a:xfrm>
            <a:off x="5444339" y="1843881"/>
            <a:ext cx="5979723" cy="3693319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Consolas" panose="020B0609020204030204" pitchFamily="49" charset="0"/>
              </a:rPr>
              <a:t>int main(int </a:t>
            </a:r>
            <a:r>
              <a:rPr lang="en-US" altLang="zh-CN" dirty="0" err="1">
                <a:latin typeface="Consolas" panose="020B0609020204030204" pitchFamily="49" charset="0"/>
              </a:rPr>
              <a:t>argc</a:t>
            </a:r>
            <a:r>
              <a:rPr lang="en-US" altLang="zh-CN" dirty="0">
                <a:latin typeface="Consolas" panose="020B0609020204030204" pitchFamily="49" charset="0"/>
              </a:rPr>
              <a:t>, char **</a:t>
            </a:r>
            <a:r>
              <a:rPr lang="en-US" altLang="zh-CN" dirty="0" err="1">
                <a:latin typeface="Consolas" panose="020B0609020204030204" pitchFamily="49" charset="0"/>
              </a:rPr>
              <a:t>argv</a:t>
            </a:r>
            <a:r>
              <a:rPr lang="en-US" altLang="zh-CN" dirty="0">
                <a:latin typeface="Consolas" panose="020B0609020204030204" pitchFamily="49" charset="0"/>
              </a:rPr>
              <a:t>)  {</a:t>
            </a:r>
          </a:p>
          <a:p>
            <a:r>
              <a:rPr lang="en-US" altLang="zh-CN" dirty="0">
                <a:latin typeface="Consolas" panose="020B0609020204030204" pitchFamily="49" charset="0"/>
              </a:rPr>
              <a:t>    int </a:t>
            </a:r>
            <a:r>
              <a:rPr lang="en-US" altLang="zh-CN" dirty="0" err="1">
                <a:latin typeface="Consolas" panose="020B0609020204030204" pitchFamily="49" charset="0"/>
              </a:rPr>
              <a:t>listenfd</a:t>
            </a:r>
            <a:r>
              <a:rPr lang="en-US" altLang="zh-CN" dirty="0">
                <a:latin typeface="Consolas" panose="020B0609020204030204" pitchFamily="49" charset="0"/>
              </a:rPr>
              <a:t>, </a:t>
            </a:r>
            <a:r>
              <a:rPr lang="en-US" altLang="zh-CN" dirty="0" err="1">
                <a:latin typeface="Consolas" panose="020B0609020204030204" pitchFamily="49" charset="0"/>
              </a:rPr>
              <a:t>connfd</a:t>
            </a:r>
            <a:r>
              <a:rPr lang="en-US" altLang="zh-CN" dirty="0">
                <a:latin typeface="Consolas" panose="020B0609020204030204" pitchFamily="49" charset="0"/>
              </a:rPr>
              <a:t>;</a:t>
            </a:r>
          </a:p>
          <a:p>
            <a:r>
              <a:rPr lang="en-US" altLang="zh-CN" dirty="0">
                <a:latin typeface="Consolas" panose="020B0609020204030204" pitchFamily="49" charset="0"/>
              </a:rPr>
              <a:t>    </a:t>
            </a:r>
            <a:r>
              <a:rPr lang="en-US" altLang="zh-CN" dirty="0" err="1">
                <a:latin typeface="Consolas" panose="020B0609020204030204" pitchFamily="49" charset="0"/>
              </a:rPr>
              <a:t>socklen_t</a:t>
            </a:r>
            <a:r>
              <a:rPr lang="en-US" altLang="zh-CN" dirty="0">
                <a:latin typeface="Consolas" panose="020B0609020204030204" pitchFamily="49" charset="0"/>
              </a:rPr>
              <a:t> </a:t>
            </a:r>
            <a:r>
              <a:rPr lang="en-US" altLang="zh-CN" dirty="0" err="1">
                <a:latin typeface="Consolas" panose="020B0609020204030204" pitchFamily="49" charset="0"/>
              </a:rPr>
              <a:t>clientlen</a:t>
            </a:r>
            <a:r>
              <a:rPr lang="en-US" altLang="zh-CN" dirty="0">
                <a:latin typeface="Consolas" panose="020B0609020204030204" pitchFamily="49" charset="0"/>
              </a:rPr>
              <a:t>;</a:t>
            </a:r>
          </a:p>
          <a:p>
            <a:r>
              <a:rPr lang="en-US" altLang="zh-CN" dirty="0">
                <a:latin typeface="Consolas" panose="020B0609020204030204" pitchFamily="49" charset="0"/>
              </a:rPr>
              <a:t>    struct </a:t>
            </a:r>
            <a:r>
              <a:rPr lang="en-US" altLang="zh-CN" dirty="0" err="1">
                <a:latin typeface="Consolas" panose="020B0609020204030204" pitchFamily="49" charset="0"/>
              </a:rPr>
              <a:t>sockaddr_storage</a:t>
            </a:r>
            <a:r>
              <a:rPr lang="en-US" altLang="zh-CN" dirty="0">
                <a:latin typeface="Consolas" panose="020B0609020204030204" pitchFamily="49" charset="0"/>
              </a:rPr>
              <a:t> </a:t>
            </a:r>
            <a:r>
              <a:rPr lang="en-US" altLang="zh-CN" dirty="0" err="1">
                <a:latin typeface="Consolas" panose="020B0609020204030204" pitchFamily="49" charset="0"/>
              </a:rPr>
              <a:t>clientaddr</a:t>
            </a:r>
            <a:r>
              <a:rPr lang="en-US" altLang="zh-CN" dirty="0">
                <a:latin typeface="Consolas" panose="020B0609020204030204" pitchFamily="49" charset="0"/>
              </a:rPr>
              <a:t>;</a:t>
            </a:r>
          </a:p>
          <a:p>
            <a:endParaRPr lang="en-US" altLang="zh-CN" dirty="0">
              <a:latin typeface="Consolas" panose="020B0609020204030204" pitchFamily="49" charset="0"/>
            </a:endParaRPr>
          </a:p>
          <a:p>
            <a:r>
              <a:rPr lang="en-US" altLang="zh-CN" dirty="0">
                <a:latin typeface="Consolas" panose="020B0609020204030204" pitchFamily="49" charset="0"/>
              </a:rPr>
              <a:t>    </a:t>
            </a:r>
            <a:r>
              <a:rPr lang="en-US" altLang="zh-CN" dirty="0" err="1">
                <a:latin typeface="Consolas" panose="020B0609020204030204" pitchFamily="49" charset="0"/>
              </a:rPr>
              <a:t>listenfd</a:t>
            </a:r>
            <a:r>
              <a:rPr lang="en-US" altLang="zh-CN" dirty="0">
                <a:latin typeface="Consolas" panose="020B0609020204030204" pitchFamily="49" charset="0"/>
              </a:rPr>
              <a:t> = </a:t>
            </a:r>
            <a:r>
              <a:rPr lang="en-US" altLang="zh-CN" dirty="0" err="1">
                <a:latin typeface="Consolas" panose="020B0609020204030204" pitchFamily="49" charset="0"/>
              </a:rPr>
              <a:t>Open_listenfd</a:t>
            </a:r>
            <a:r>
              <a:rPr lang="en-US" altLang="zh-CN" dirty="0">
                <a:latin typeface="Consolas" panose="020B0609020204030204" pitchFamily="49" charset="0"/>
              </a:rPr>
              <a:t>(</a:t>
            </a:r>
            <a:r>
              <a:rPr lang="en-US" altLang="zh-CN" dirty="0" err="1">
                <a:latin typeface="Consolas" panose="020B0609020204030204" pitchFamily="49" charset="0"/>
              </a:rPr>
              <a:t>argv</a:t>
            </a:r>
            <a:r>
              <a:rPr lang="en-US" altLang="zh-CN" dirty="0">
                <a:latin typeface="Consolas" panose="020B0609020204030204" pitchFamily="49" charset="0"/>
              </a:rPr>
              <a:t>[1]);</a:t>
            </a:r>
          </a:p>
          <a:p>
            <a:r>
              <a:rPr lang="en-US" altLang="zh-CN" dirty="0">
                <a:latin typeface="Consolas" panose="020B0609020204030204" pitchFamily="49" charset="0"/>
              </a:rPr>
              <a:t>    while (1) {</a:t>
            </a:r>
          </a:p>
          <a:p>
            <a:r>
              <a:rPr lang="en-US" altLang="zh-CN" dirty="0">
                <a:latin typeface="Consolas" panose="020B0609020204030204" pitchFamily="49" charset="0"/>
              </a:rPr>
              <a:t>	</a:t>
            </a:r>
            <a:r>
              <a:rPr lang="en-US" altLang="zh-CN" dirty="0" err="1">
                <a:latin typeface="Consolas" panose="020B0609020204030204" pitchFamily="49" charset="0"/>
              </a:rPr>
              <a:t>clientlen</a:t>
            </a:r>
            <a:r>
              <a:rPr lang="en-US" altLang="zh-CN" dirty="0">
                <a:latin typeface="Consolas" panose="020B0609020204030204" pitchFamily="49" charset="0"/>
              </a:rPr>
              <a:t> = </a:t>
            </a:r>
            <a:r>
              <a:rPr lang="en-US" altLang="zh-CN" dirty="0" err="1">
                <a:latin typeface="Consolas" panose="020B0609020204030204" pitchFamily="49" charset="0"/>
              </a:rPr>
              <a:t>sizeof</a:t>
            </a:r>
            <a:r>
              <a:rPr lang="en-US" altLang="zh-CN" dirty="0">
                <a:latin typeface="Consolas" panose="020B0609020204030204" pitchFamily="49" charset="0"/>
              </a:rPr>
              <a:t>(</a:t>
            </a:r>
            <a:r>
              <a:rPr lang="en-US" altLang="zh-CN" dirty="0" err="1">
                <a:latin typeface="Consolas" panose="020B0609020204030204" pitchFamily="49" charset="0"/>
              </a:rPr>
              <a:t>clientaddr</a:t>
            </a:r>
            <a:r>
              <a:rPr lang="en-US" altLang="zh-CN" dirty="0">
                <a:latin typeface="Consolas" panose="020B0609020204030204" pitchFamily="49" charset="0"/>
              </a:rPr>
              <a:t>);</a:t>
            </a:r>
          </a:p>
          <a:p>
            <a:r>
              <a:rPr lang="en-US" altLang="zh-CN" b="1" dirty="0">
                <a:solidFill>
                  <a:srgbClr val="FF0000"/>
                </a:solidFill>
                <a:latin typeface="Consolas" panose="020B0609020204030204" pitchFamily="49" charset="0"/>
              </a:rPr>
              <a:t>	</a:t>
            </a:r>
            <a:r>
              <a:rPr lang="en-US" altLang="zh-CN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connfd</a:t>
            </a:r>
            <a:r>
              <a:rPr lang="en-US" altLang="zh-CN" b="1" dirty="0">
                <a:solidFill>
                  <a:srgbClr val="FF0000"/>
                </a:solidFill>
                <a:latin typeface="Consolas" panose="020B0609020204030204" pitchFamily="49" charset="0"/>
              </a:rPr>
              <a:t> = Accept(</a:t>
            </a:r>
            <a:r>
              <a:rPr lang="en-US" altLang="zh-CN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listenfd</a:t>
            </a:r>
            <a:r>
              <a:rPr lang="en-US" altLang="zh-CN" b="1" dirty="0">
                <a:solidFill>
                  <a:srgbClr val="FF0000"/>
                </a:solidFill>
                <a:latin typeface="Consolas" panose="020B0609020204030204" pitchFamily="49" charset="0"/>
              </a:rPr>
              <a:t>, ...); 	</a:t>
            </a:r>
          </a:p>
          <a:p>
            <a:r>
              <a:rPr lang="en-US" altLang="zh-CN" b="1" dirty="0">
                <a:solidFill>
                  <a:srgbClr val="FF0000"/>
                </a:solidFill>
                <a:latin typeface="Consolas" panose="020B0609020204030204" pitchFamily="49" charset="0"/>
              </a:rPr>
              <a:t>       doit(</a:t>
            </a:r>
            <a:r>
              <a:rPr lang="en-US" altLang="zh-CN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connfd</a:t>
            </a:r>
            <a:r>
              <a:rPr lang="en-US" altLang="zh-CN" b="1" dirty="0">
                <a:solidFill>
                  <a:srgbClr val="FF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altLang="zh-CN" b="1" dirty="0">
                <a:solidFill>
                  <a:srgbClr val="FF0000"/>
                </a:solidFill>
                <a:latin typeface="Consolas" panose="020B0609020204030204" pitchFamily="49" charset="0"/>
              </a:rPr>
              <a:t>	Close(</a:t>
            </a:r>
            <a:r>
              <a:rPr lang="en-US" altLang="zh-CN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connfd</a:t>
            </a:r>
            <a:r>
              <a:rPr lang="en-US" altLang="zh-CN" b="1" dirty="0">
                <a:solidFill>
                  <a:srgbClr val="FF0000"/>
                </a:solidFill>
                <a:latin typeface="Consolas" panose="020B0609020204030204" pitchFamily="49" charset="0"/>
              </a:rPr>
              <a:t>); </a:t>
            </a:r>
          </a:p>
          <a:p>
            <a:r>
              <a:rPr lang="en-US" altLang="zh-CN" dirty="0">
                <a:latin typeface="Consolas" panose="020B0609020204030204" pitchFamily="49" charset="0"/>
              </a:rPr>
              <a:t>    }</a:t>
            </a:r>
          </a:p>
          <a:p>
            <a:r>
              <a:rPr lang="en-US" altLang="zh-CN" dirty="0">
                <a:latin typeface="Consolas" panose="020B0609020204030204" pitchFamily="49" charset="0"/>
              </a:rPr>
              <a:t>}</a:t>
            </a:r>
            <a:endParaRPr lang="zh-CN" altLang="en-US" dirty="0">
              <a:latin typeface="Consolas" panose="020B0609020204030204" pitchFamily="49" charset="0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1B3BF63-DEA5-4BE9-B0A8-D30E3EF9F9CF}"/>
              </a:ext>
            </a:extLst>
          </p:cNvPr>
          <p:cNvSpPr txBox="1"/>
          <p:nvPr/>
        </p:nvSpPr>
        <p:spPr>
          <a:xfrm>
            <a:off x="5444339" y="1456293"/>
            <a:ext cx="54721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i="1" spc="-150" dirty="0">
                <a:latin typeface="Consolas" panose="020B0609020204030204" pitchFamily="49" charset="0"/>
                <a:cs typeface="Times New Roman" panose="02020603050405020304" pitchFamily="18" charset="0"/>
              </a:rPr>
              <a:t>a tiny web server </a:t>
            </a:r>
            <a:r>
              <a:rPr lang="en-US" altLang="zh-CN" b="1" i="1" spc="-150" dirty="0">
                <a:latin typeface="Consolas" panose="020B0609020204030204" pitchFamily="49" charset="0"/>
                <a:cs typeface="Times New Roman" panose="02020603050405020304" pitchFamily="18" charset="0"/>
              </a:rPr>
              <a:t>pseudo code</a:t>
            </a:r>
            <a:r>
              <a:rPr lang="en-US" altLang="zh-CN" i="1" spc="-150" dirty="0">
                <a:latin typeface="Consolas" panose="020B0609020204030204" pitchFamily="49" charset="0"/>
                <a:cs typeface="Times New Roman" panose="02020603050405020304" pitchFamily="18" charset="0"/>
              </a:rPr>
              <a:t>, from CSAPP</a:t>
            </a:r>
            <a:endParaRPr lang="zh-CN" altLang="en-US" i="1" spc="-150" dirty="0">
              <a:latin typeface="Consolas" panose="020B0609020204030204" pitchFamily="49" charset="0"/>
              <a:cs typeface="Times New Roman" panose="02020603050405020304" pitchFamily="18" charset="0"/>
            </a:endParaRPr>
          </a:p>
        </p:txBody>
      </p:sp>
      <p:sp>
        <p:nvSpPr>
          <p:cNvPr id="8" name="左大括号 7">
            <a:extLst>
              <a:ext uri="{FF2B5EF4-FFF2-40B4-BE49-F238E27FC236}">
                <a16:creationId xmlns:a16="http://schemas.microsoft.com/office/drawing/2014/main" id="{761FBF0F-A5FB-439D-B8D1-4E082C61C75F}"/>
              </a:ext>
            </a:extLst>
          </p:cNvPr>
          <p:cNvSpPr/>
          <p:nvPr/>
        </p:nvSpPr>
        <p:spPr>
          <a:xfrm>
            <a:off x="5622965" y="3627912"/>
            <a:ext cx="332510" cy="1448789"/>
          </a:xfrm>
          <a:prstGeom prst="leftBrac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57397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965D7AB-2A40-449F-954F-3429687B9F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>
                <a:latin typeface="方正大标宋简体" panose="02010601030101010101" pitchFamily="2" charset="-122"/>
                <a:ea typeface="方正大标宋简体" panose="02010601030101010101" pitchFamily="2" charset="-122"/>
              </a:rPr>
              <a:t>Technology:</a:t>
            </a:r>
            <a:r>
              <a:rPr lang="zh-CN" altLang="en-US" b="1" dirty="0">
                <a:latin typeface="方正大标宋简体" panose="02010601030101010101" pitchFamily="2" charset="-122"/>
                <a:ea typeface="方正大标宋简体" panose="02010601030101010101" pitchFamily="2" charset="-122"/>
              </a:rPr>
              <a:t> </a:t>
            </a:r>
            <a:r>
              <a:rPr lang="en-US" altLang="zh-CN" b="1" dirty="0">
                <a:latin typeface="方正大标宋简体" panose="02010601030101010101" pitchFamily="2" charset="-122"/>
                <a:ea typeface="方正大标宋简体" panose="02010601030101010101" pitchFamily="2" charset="-122"/>
              </a:rPr>
              <a:t>Epoll</a:t>
            </a:r>
            <a:endParaRPr lang="zh-CN" altLang="en-US" b="1" dirty="0">
              <a:latin typeface="方正大标宋简体" panose="02010601030101010101" pitchFamily="2" charset="-122"/>
              <a:ea typeface="方正大标宋简体" panose="02010601030101010101" pitchFamily="2" charset="-122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35D709B-CA66-46E1-99BC-5AE7CAE9C3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846615" cy="4351338"/>
          </a:xfrm>
        </p:spPr>
        <p:txBody>
          <a:bodyPr/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Epoll is a </a:t>
            </a:r>
            <a:r>
              <a:rPr lang="en-US" altLang="zh-CN" b="1" dirty="0">
                <a:solidFill>
                  <a:srgbClr val="009A9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scalable I/O event notification mechanism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provided since Linux kernel 2.5.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 to use it in a web server program?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 does it work?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73E38AD-5C28-4E0C-A5E5-A3D20B27E7D9}"/>
              </a:ext>
            </a:extLst>
          </p:cNvPr>
          <p:cNvSpPr txBox="1"/>
          <p:nvPr/>
        </p:nvSpPr>
        <p:spPr>
          <a:xfrm>
            <a:off x="5794383" y="1462137"/>
            <a:ext cx="6121392" cy="5078313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Consolas" panose="020B0609020204030204" pitchFamily="49" charset="0"/>
              </a:rPr>
              <a:t>int </a:t>
            </a:r>
            <a:r>
              <a:rPr lang="en-US" altLang="zh-CN" dirty="0" err="1">
                <a:latin typeface="Consolas" panose="020B0609020204030204" pitchFamily="49" charset="0"/>
              </a:rPr>
              <a:t>sockfd</a:t>
            </a:r>
            <a:r>
              <a:rPr lang="en-US" altLang="zh-CN" dirty="0">
                <a:latin typeface="Consolas" panose="020B0609020204030204" pitchFamily="49" charset="0"/>
              </a:rPr>
              <a:t> = socket();</a:t>
            </a:r>
          </a:p>
          <a:p>
            <a:r>
              <a:rPr lang="en-US" altLang="zh-CN" dirty="0">
                <a:latin typeface="Consolas" panose="020B0609020204030204" pitchFamily="49" charset="0"/>
              </a:rPr>
              <a:t>int </a:t>
            </a:r>
            <a:r>
              <a:rPr lang="en-US" altLang="zh-CN" dirty="0" err="1">
                <a:latin typeface="Consolas" panose="020B0609020204030204" pitchFamily="49" charset="0"/>
              </a:rPr>
              <a:t>epoll</a:t>
            </a:r>
            <a:r>
              <a:rPr lang="en-US" altLang="zh-CN" dirty="0">
                <a:latin typeface="Consolas" panose="020B0609020204030204" pitchFamily="49" charset="0"/>
              </a:rPr>
              <a:t> = </a:t>
            </a:r>
            <a:r>
              <a:rPr lang="en-US" altLang="zh-CN" dirty="0" err="1">
                <a:latin typeface="Consolas" panose="020B0609020204030204" pitchFamily="49" charset="0"/>
              </a:rPr>
              <a:t>epoll_create</a:t>
            </a:r>
            <a:r>
              <a:rPr lang="en-US" altLang="zh-CN" dirty="0">
                <a:latin typeface="Consolas" panose="020B0609020204030204" pitchFamily="49" charset="0"/>
              </a:rPr>
              <a:t>();</a:t>
            </a:r>
          </a:p>
          <a:p>
            <a:r>
              <a:rPr lang="en-US" altLang="zh-CN" dirty="0">
                <a:latin typeface="Consolas" panose="020B0609020204030204" pitchFamily="49" charset="0"/>
              </a:rPr>
              <a:t>// bind and listen...</a:t>
            </a:r>
          </a:p>
          <a:p>
            <a:r>
              <a:rPr lang="en-US" altLang="zh-CN" dirty="0" err="1">
                <a:latin typeface="Consolas" panose="020B0609020204030204" pitchFamily="49" charset="0"/>
              </a:rPr>
              <a:t>epoll.add</a:t>
            </a:r>
            <a:r>
              <a:rPr lang="en-US" altLang="zh-CN" dirty="0">
                <a:latin typeface="Consolas" panose="020B0609020204030204" pitchFamily="49" charset="0"/>
              </a:rPr>
              <a:t>(</a:t>
            </a:r>
            <a:r>
              <a:rPr lang="en-US" altLang="zh-CN" dirty="0" err="1">
                <a:latin typeface="Consolas" panose="020B0609020204030204" pitchFamily="49" charset="0"/>
              </a:rPr>
              <a:t>sockfd</a:t>
            </a:r>
            <a:r>
              <a:rPr lang="en-US" altLang="zh-CN" dirty="0">
                <a:latin typeface="Consolas" panose="020B0609020204030204" pitchFamily="49" charset="0"/>
              </a:rPr>
              <a:t>);</a:t>
            </a:r>
          </a:p>
          <a:p>
            <a:r>
              <a:rPr lang="en-US" altLang="zh-CN" dirty="0">
                <a:latin typeface="Consolas" panose="020B0609020204030204" pitchFamily="49" charset="0"/>
              </a:rPr>
              <a:t>while(true) {</a:t>
            </a:r>
          </a:p>
          <a:p>
            <a:r>
              <a:rPr lang="en-US" altLang="zh-CN" dirty="0">
                <a:latin typeface="Consolas" panose="020B0609020204030204" pitchFamily="49" charset="0"/>
              </a:rPr>
              <a:t>    auto events = </a:t>
            </a:r>
            <a:r>
              <a:rPr lang="en-US" altLang="zh-CN" dirty="0" err="1">
                <a:latin typeface="Consolas" panose="020B0609020204030204" pitchFamily="49" charset="0"/>
              </a:rPr>
              <a:t>epoll_wait</a:t>
            </a:r>
            <a:r>
              <a:rPr lang="en-US" altLang="zh-CN" dirty="0">
                <a:latin typeface="Consolas" panose="020B0609020204030204" pitchFamily="49" charset="0"/>
              </a:rPr>
              <a:t>(</a:t>
            </a:r>
            <a:r>
              <a:rPr lang="en-US" altLang="zh-CN" dirty="0" err="1">
                <a:latin typeface="Consolas" panose="020B0609020204030204" pitchFamily="49" charset="0"/>
              </a:rPr>
              <a:t>epfd</a:t>
            </a:r>
            <a:r>
              <a:rPr lang="en-US" altLang="zh-CN" dirty="0">
                <a:latin typeface="Consolas" panose="020B0609020204030204" pitchFamily="49" charset="0"/>
              </a:rPr>
              <a:t>...);</a:t>
            </a:r>
          </a:p>
          <a:p>
            <a:r>
              <a:rPr lang="en-US" altLang="zh-CN" dirty="0">
                <a:latin typeface="Consolas" panose="020B0609020204030204" pitchFamily="49" charset="0"/>
              </a:rPr>
              <a:t>    for(auto </a:t>
            </a:r>
            <a:r>
              <a:rPr lang="en-US" altLang="zh-CN" dirty="0" err="1">
                <a:latin typeface="Consolas" panose="020B0609020204030204" pitchFamily="49" charset="0"/>
              </a:rPr>
              <a:t>cur_event</a:t>
            </a:r>
            <a:r>
              <a:rPr lang="en-US" altLang="zh-CN" dirty="0">
                <a:latin typeface="Consolas" panose="020B0609020204030204" pitchFamily="49" charset="0"/>
              </a:rPr>
              <a:t>&amp; : events){</a:t>
            </a:r>
          </a:p>
          <a:p>
            <a:r>
              <a:rPr lang="en-US" altLang="zh-CN" dirty="0">
                <a:latin typeface="Consolas" panose="020B0609020204030204" pitchFamily="49" charset="0"/>
              </a:rPr>
              <a:t>        </a:t>
            </a:r>
            <a:r>
              <a:rPr lang="en-US" altLang="zh-CN" b="1" dirty="0">
                <a:solidFill>
                  <a:srgbClr val="FF0000"/>
                </a:solidFill>
                <a:latin typeface="Consolas" panose="020B0609020204030204" pitchFamily="49" charset="0"/>
              </a:rPr>
              <a:t>// server socket accepts new connection</a:t>
            </a:r>
          </a:p>
          <a:p>
            <a:r>
              <a:rPr lang="en-US" altLang="zh-CN" dirty="0">
                <a:latin typeface="Consolas" panose="020B0609020204030204" pitchFamily="49" charset="0"/>
              </a:rPr>
              <a:t>        if(</a:t>
            </a:r>
            <a:r>
              <a:rPr lang="en-US" altLang="zh-CN" dirty="0" err="1">
                <a:latin typeface="Consolas" panose="020B0609020204030204" pitchFamily="49" charset="0"/>
              </a:rPr>
              <a:t>cur_event.fd</a:t>
            </a:r>
            <a:r>
              <a:rPr lang="en-US" altLang="zh-CN" dirty="0">
                <a:latin typeface="Consolas" panose="020B0609020204030204" pitchFamily="49" charset="0"/>
              </a:rPr>
              <a:t> == </a:t>
            </a:r>
            <a:r>
              <a:rPr lang="en-US" altLang="zh-CN" dirty="0" err="1">
                <a:latin typeface="Consolas" panose="020B0609020204030204" pitchFamily="49" charset="0"/>
              </a:rPr>
              <a:t>sockfd</a:t>
            </a:r>
            <a:r>
              <a:rPr lang="en-US" altLang="zh-CN" dirty="0">
                <a:latin typeface="Consolas" panose="020B0609020204030204" pitchFamily="49" charset="0"/>
              </a:rPr>
              <a:t>){</a:t>
            </a:r>
          </a:p>
          <a:p>
            <a:r>
              <a:rPr lang="en-US" altLang="zh-CN" b="1" dirty="0">
                <a:solidFill>
                  <a:srgbClr val="FF0000"/>
                </a:solidFill>
                <a:latin typeface="Consolas" panose="020B0609020204030204" pitchFamily="49" charset="0"/>
              </a:rPr>
              <a:t>            int </a:t>
            </a:r>
            <a:r>
              <a:rPr lang="en-US" altLang="zh-CN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client_sockfd</a:t>
            </a:r>
            <a:r>
              <a:rPr lang="en-US" altLang="zh-CN" b="1" dirty="0">
                <a:solidFill>
                  <a:srgbClr val="FF0000"/>
                </a:solidFill>
                <a:latin typeface="Consolas" panose="020B0609020204030204" pitchFamily="49" charset="0"/>
              </a:rPr>
              <a:t> = accept(</a:t>
            </a:r>
            <a:r>
              <a:rPr lang="en-US" altLang="zh-CN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sockfd</a:t>
            </a:r>
            <a:r>
              <a:rPr lang="en-US" altLang="zh-CN" b="1" dirty="0">
                <a:solidFill>
                  <a:srgbClr val="FF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altLang="zh-CN" b="1" dirty="0">
                <a:solidFill>
                  <a:srgbClr val="FF0000"/>
                </a:solidFill>
                <a:latin typeface="Consolas" panose="020B0609020204030204" pitchFamily="49" charset="0"/>
              </a:rPr>
              <a:t>            </a:t>
            </a:r>
            <a:r>
              <a:rPr lang="en-US" altLang="zh-CN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epoll.add</a:t>
            </a:r>
            <a:r>
              <a:rPr lang="en-US" altLang="zh-CN" b="1" dirty="0">
                <a:solidFill>
                  <a:srgbClr val="FF0000"/>
                </a:solidFill>
                <a:latin typeface="Consolas" panose="020B0609020204030204" pitchFamily="49" charset="0"/>
              </a:rPr>
              <a:t>(</a:t>
            </a:r>
            <a:r>
              <a:rPr lang="en-US" altLang="zh-CN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sockfd</a:t>
            </a:r>
            <a:r>
              <a:rPr lang="en-US" altLang="zh-CN" b="1" dirty="0">
                <a:solidFill>
                  <a:srgbClr val="FF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altLang="zh-CN" dirty="0">
                <a:latin typeface="Consolas" panose="020B0609020204030204" pitchFamily="49" charset="0"/>
              </a:rPr>
              <a:t>        }</a:t>
            </a:r>
          </a:p>
          <a:p>
            <a:r>
              <a:rPr lang="en-US" altLang="zh-CN" dirty="0">
                <a:latin typeface="Consolas" panose="020B0609020204030204" pitchFamily="49" charset="0"/>
              </a:rPr>
              <a:t>        </a:t>
            </a:r>
            <a:r>
              <a:rPr lang="en-US" altLang="zh-CN" b="1" dirty="0">
                <a:solidFill>
                  <a:srgbClr val="FF0000"/>
                </a:solidFill>
                <a:latin typeface="Consolas" panose="020B0609020204030204" pitchFamily="49" charset="0"/>
              </a:rPr>
              <a:t>// new data is sent to some connection </a:t>
            </a:r>
          </a:p>
          <a:p>
            <a:r>
              <a:rPr lang="en-US" altLang="zh-CN" dirty="0">
                <a:latin typeface="Consolas" panose="020B0609020204030204" pitchFamily="49" charset="0"/>
              </a:rPr>
              <a:t>        else {</a:t>
            </a:r>
          </a:p>
          <a:p>
            <a:r>
              <a:rPr lang="en-US" altLang="zh-CN" dirty="0">
                <a:latin typeface="Consolas" panose="020B0609020204030204" pitchFamily="49" charset="0"/>
              </a:rPr>
              <a:t>            </a:t>
            </a:r>
            <a:r>
              <a:rPr lang="en-US" altLang="zh-CN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handleEvent</a:t>
            </a:r>
            <a:r>
              <a:rPr lang="en-US" altLang="zh-CN" b="1" dirty="0">
                <a:solidFill>
                  <a:srgbClr val="FF0000"/>
                </a:solidFill>
                <a:latin typeface="Consolas" panose="020B0609020204030204" pitchFamily="49" charset="0"/>
              </a:rPr>
              <a:t>(</a:t>
            </a:r>
            <a:r>
              <a:rPr lang="en-US" altLang="zh-CN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cur_event</a:t>
            </a:r>
            <a:r>
              <a:rPr lang="en-US" altLang="zh-CN" b="1" dirty="0">
                <a:solidFill>
                  <a:srgbClr val="FF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altLang="zh-CN" dirty="0">
                <a:latin typeface="Consolas" panose="020B0609020204030204" pitchFamily="49" charset="0"/>
              </a:rPr>
              <a:t>        }</a:t>
            </a:r>
          </a:p>
          <a:p>
            <a:r>
              <a:rPr lang="en-US" altLang="zh-CN" dirty="0">
                <a:latin typeface="Consolas" panose="020B0609020204030204" pitchFamily="49" charset="0"/>
              </a:rPr>
              <a:t>    }</a:t>
            </a:r>
          </a:p>
          <a:p>
            <a:r>
              <a:rPr lang="en-US" altLang="zh-CN" dirty="0">
                <a:latin typeface="Consolas" panose="020B0609020204030204" pitchFamily="49" charset="0"/>
              </a:rPr>
              <a:t>}</a:t>
            </a:r>
            <a:endParaRPr lang="zh-CN" altLang="en-US" dirty="0">
              <a:latin typeface="Consolas" panose="020B0609020204030204" pitchFamily="49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1B7CBE2-EDD2-43AE-B145-569852BB5D19}"/>
              </a:ext>
            </a:extLst>
          </p:cNvPr>
          <p:cNvSpPr txBox="1"/>
          <p:nvPr/>
        </p:nvSpPr>
        <p:spPr>
          <a:xfrm>
            <a:off x="5794383" y="1027906"/>
            <a:ext cx="54721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i="1" spc="-150" dirty="0">
                <a:latin typeface="Consolas" panose="020B0609020204030204" pitchFamily="49" charset="0"/>
                <a:cs typeface="Times New Roman" panose="02020603050405020304" pitchFamily="18" charset="0"/>
              </a:rPr>
              <a:t>a </a:t>
            </a:r>
            <a:r>
              <a:rPr lang="en-US" altLang="zh-CN" b="1" i="1" spc="-150" dirty="0">
                <a:latin typeface="Consolas" panose="020B0609020204030204" pitchFamily="49" charset="0"/>
                <a:cs typeface="Times New Roman" panose="02020603050405020304" pitchFamily="18" charset="0"/>
              </a:rPr>
              <a:t>pseudo code</a:t>
            </a:r>
            <a:r>
              <a:rPr lang="en-US" altLang="zh-CN" i="1" spc="-150" dirty="0">
                <a:latin typeface="Consolas" panose="020B0609020204030204" pitchFamily="49" charset="0"/>
                <a:cs typeface="Times New Roman" panose="02020603050405020304" pitchFamily="18" charset="0"/>
              </a:rPr>
              <a:t> of how to use </a:t>
            </a:r>
            <a:r>
              <a:rPr lang="en-US" altLang="zh-CN" i="1" spc="-150" dirty="0" err="1">
                <a:latin typeface="Consolas" panose="020B0609020204030204" pitchFamily="49" charset="0"/>
                <a:cs typeface="Times New Roman" panose="02020603050405020304" pitchFamily="18" charset="0"/>
              </a:rPr>
              <a:t>epoll</a:t>
            </a:r>
            <a:r>
              <a:rPr lang="en-US" altLang="zh-CN" i="1" spc="-150" dirty="0">
                <a:latin typeface="Consolas" panose="020B0609020204030204" pitchFamily="49" charset="0"/>
                <a:cs typeface="Times New Roman" panose="02020603050405020304" pitchFamily="18" charset="0"/>
              </a:rPr>
              <a:t> in web server</a:t>
            </a:r>
            <a:endParaRPr lang="zh-CN" altLang="en-US" i="1" spc="-150" dirty="0">
              <a:latin typeface="Consolas" panose="020B0609020204030204" pitchFamily="49" charset="0"/>
              <a:cs typeface="Times New Roman" panose="02020603050405020304" pitchFamily="18" charset="0"/>
            </a:endParaRPr>
          </a:p>
        </p:txBody>
      </p:sp>
      <p:sp>
        <p:nvSpPr>
          <p:cNvPr id="8" name="左大括号 7">
            <a:extLst>
              <a:ext uri="{FF2B5EF4-FFF2-40B4-BE49-F238E27FC236}">
                <a16:creationId xmlns:a16="http://schemas.microsoft.com/office/drawing/2014/main" id="{E24D429D-B76B-4605-B915-ADBB38CB3341}"/>
              </a:ext>
            </a:extLst>
          </p:cNvPr>
          <p:cNvSpPr/>
          <p:nvPr/>
        </p:nvSpPr>
        <p:spPr>
          <a:xfrm>
            <a:off x="5397334" y="2787700"/>
            <a:ext cx="504702" cy="3586348"/>
          </a:xfrm>
          <a:prstGeom prst="leftBrac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611519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965D7AB-2A40-449F-954F-3429687B9F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125" y="108743"/>
            <a:ext cx="10515600" cy="1325563"/>
          </a:xfrm>
        </p:spPr>
        <p:txBody>
          <a:bodyPr/>
          <a:lstStyle/>
          <a:p>
            <a:r>
              <a:rPr lang="en-US" altLang="zh-CN" b="1" dirty="0">
                <a:latin typeface="方正大标宋简体" panose="02010601030101010101" pitchFamily="2" charset="-122"/>
                <a:ea typeface="方正大标宋简体" panose="02010601030101010101" pitchFamily="2" charset="-122"/>
              </a:rPr>
              <a:t>Technology:</a:t>
            </a:r>
            <a:r>
              <a:rPr lang="zh-CN" altLang="en-US" b="1" dirty="0">
                <a:latin typeface="方正大标宋简体" panose="02010601030101010101" pitchFamily="2" charset="-122"/>
                <a:ea typeface="方正大标宋简体" panose="02010601030101010101" pitchFamily="2" charset="-122"/>
              </a:rPr>
              <a:t> </a:t>
            </a:r>
            <a:r>
              <a:rPr lang="en-US" altLang="zh-CN" b="1" dirty="0">
                <a:latin typeface="方正大标宋简体" panose="02010601030101010101" pitchFamily="2" charset="-122"/>
                <a:ea typeface="方正大标宋简体" panose="02010601030101010101" pitchFamily="2" charset="-122"/>
              </a:rPr>
              <a:t>Epoll</a:t>
            </a:r>
            <a:endParaRPr lang="zh-CN" altLang="en-US" b="1" dirty="0">
              <a:latin typeface="方正大标宋简体" panose="02010601030101010101" pitchFamily="2" charset="-122"/>
              <a:ea typeface="方正大标宋简体" panose="02010601030101010101" pitchFamily="2" charset="-122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35D709B-CA66-46E1-99BC-5AE7CAE9C3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386943" cy="4351338"/>
          </a:xfrm>
        </p:spPr>
        <p:txBody>
          <a:bodyPr>
            <a:normAutofit fontScale="92500" lnSpcReduction="10000"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Epoll </a:t>
            </a:r>
            <a:r>
              <a:rPr lang="en-US" altLang="zh-CN" b="1" dirty="0">
                <a:solidFill>
                  <a:srgbClr val="009A9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takes over all the sockets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web server itself and the client connections.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Epoll treats the socket receiving new data as an </a:t>
            </a:r>
            <a:r>
              <a:rPr lang="en-US" altLang="zh-CN" b="1" dirty="0">
                <a:solidFill>
                  <a:srgbClr val="009A9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event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stores the events in a private queue.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Epoll </a:t>
            </a:r>
            <a:r>
              <a:rPr lang="en-US" altLang="zh-CN" b="1" dirty="0">
                <a:solidFill>
                  <a:srgbClr val="009A9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provides all collected events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through </a:t>
            </a:r>
            <a:r>
              <a:rPr lang="en-US" altLang="zh-CN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epoll_wait</a:t>
            </a:r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function, so that we can know which sockets to read data from </a:t>
            </a:r>
            <a:r>
              <a:rPr lang="en-US" altLang="zh-CN" b="1" dirty="0">
                <a:solidFill>
                  <a:srgbClr val="009A9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at once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AutoShape 2">
            <a:extLst>
              <a:ext uri="{FF2B5EF4-FFF2-40B4-BE49-F238E27FC236}">
                <a16:creationId xmlns:a16="http://schemas.microsoft.com/office/drawing/2014/main" id="{4AE85E2B-9EB6-4188-8E4B-E287DF55F65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607594" cy="3607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147064A9-05B1-4E8D-A07A-E7FB689CF1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597196" y="892969"/>
            <a:ext cx="6416763" cy="5599905"/>
          </a:xfrm>
          <a:prstGeom prst="rect">
            <a:avLst/>
          </a:prstGeom>
        </p:spPr>
      </p:pic>
      <p:sp>
        <p:nvSpPr>
          <p:cNvPr id="11" name="矩形 10">
            <a:extLst>
              <a:ext uri="{FF2B5EF4-FFF2-40B4-BE49-F238E27FC236}">
                <a16:creationId xmlns:a16="http://schemas.microsoft.com/office/drawing/2014/main" id="{05E03605-A315-4777-9CCF-7A38F9AA27D6}"/>
              </a:ext>
            </a:extLst>
          </p:cNvPr>
          <p:cNvSpPr/>
          <p:nvPr/>
        </p:nvSpPr>
        <p:spPr>
          <a:xfrm>
            <a:off x="8258175" y="3200399"/>
            <a:ext cx="1557338" cy="1593057"/>
          </a:xfrm>
          <a:prstGeom prst="rect">
            <a:avLst/>
          </a:prstGeom>
          <a:noFill/>
          <a:ln w="38100">
            <a:solidFill>
              <a:srgbClr val="009A9A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203AC9F-0B5D-4760-80EF-D4A8706324CE}"/>
              </a:ext>
            </a:extLst>
          </p:cNvPr>
          <p:cNvSpPr/>
          <p:nvPr/>
        </p:nvSpPr>
        <p:spPr>
          <a:xfrm>
            <a:off x="8258175" y="938671"/>
            <a:ext cx="1687409" cy="1416782"/>
          </a:xfrm>
          <a:prstGeom prst="rect">
            <a:avLst/>
          </a:prstGeom>
          <a:noFill/>
          <a:ln w="38100">
            <a:solidFill>
              <a:srgbClr val="009A9A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箭头: 右 12">
            <a:extLst>
              <a:ext uri="{FF2B5EF4-FFF2-40B4-BE49-F238E27FC236}">
                <a16:creationId xmlns:a16="http://schemas.microsoft.com/office/drawing/2014/main" id="{2854D752-2008-4347-BE75-DF2F06EFF409}"/>
              </a:ext>
            </a:extLst>
          </p:cNvPr>
          <p:cNvSpPr/>
          <p:nvPr/>
        </p:nvSpPr>
        <p:spPr>
          <a:xfrm rot="495850">
            <a:off x="4462887" y="3452674"/>
            <a:ext cx="3791877" cy="238787"/>
          </a:xfrm>
          <a:prstGeom prst="rightArrow">
            <a:avLst/>
          </a:prstGeom>
          <a:solidFill>
            <a:srgbClr val="009A9A"/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箭头: 右 13">
            <a:extLst>
              <a:ext uri="{FF2B5EF4-FFF2-40B4-BE49-F238E27FC236}">
                <a16:creationId xmlns:a16="http://schemas.microsoft.com/office/drawing/2014/main" id="{CEF60ECD-4964-4EA2-9DF6-9565CF3A621B}"/>
              </a:ext>
            </a:extLst>
          </p:cNvPr>
          <p:cNvSpPr/>
          <p:nvPr/>
        </p:nvSpPr>
        <p:spPr>
          <a:xfrm rot="19134877">
            <a:off x="4587492" y="3415003"/>
            <a:ext cx="4148312" cy="266969"/>
          </a:xfrm>
          <a:prstGeom prst="rightArrow">
            <a:avLst/>
          </a:prstGeom>
          <a:solidFill>
            <a:srgbClr val="009A9A"/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325310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965D7AB-2A40-449F-954F-3429687B9F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952" y="-142137"/>
            <a:ext cx="10515600" cy="1325563"/>
          </a:xfrm>
        </p:spPr>
        <p:txBody>
          <a:bodyPr/>
          <a:lstStyle/>
          <a:p>
            <a:r>
              <a:rPr lang="en-US" altLang="zh-CN" b="1" dirty="0">
                <a:latin typeface="方正大标宋简体" panose="02010601030101010101" pitchFamily="2" charset="-122"/>
                <a:ea typeface="方正大标宋简体" panose="02010601030101010101" pitchFamily="2" charset="-122"/>
              </a:rPr>
              <a:t>Technology:</a:t>
            </a:r>
            <a:r>
              <a:rPr lang="zh-CN" altLang="en-US" b="1" dirty="0">
                <a:latin typeface="方正大标宋简体" panose="02010601030101010101" pitchFamily="2" charset="-122"/>
                <a:ea typeface="方正大标宋简体" panose="02010601030101010101" pitchFamily="2" charset="-122"/>
              </a:rPr>
              <a:t> </a:t>
            </a:r>
            <a:r>
              <a:rPr lang="en-US" altLang="zh-CN" b="1" dirty="0">
                <a:latin typeface="方正大标宋简体" panose="02010601030101010101" pitchFamily="2" charset="-122"/>
                <a:ea typeface="方正大标宋简体" panose="02010601030101010101" pitchFamily="2" charset="-122"/>
              </a:rPr>
              <a:t>Reactor Pattern</a:t>
            </a:r>
            <a:endParaRPr lang="zh-CN" altLang="en-US" b="1" dirty="0">
              <a:latin typeface="方正大标宋简体" panose="02010601030101010101" pitchFamily="2" charset="-122"/>
              <a:ea typeface="方正大标宋简体" panose="02010601030101010101" pitchFamily="2" charset="-122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35D709B-CA66-46E1-99BC-5AE7CAE9C3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93292" y="945264"/>
            <a:ext cx="10752117" cy="3637024"/>
          </a:xfrm>
        </p:spPr>
        <p:txBody>
          <a:bodyPr/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Modern CPUs are </a:t>
            </a:r>
            <a:r>
              <a:rPr lang="en-US" altLang="zh-CN" b="1" dirty="0">
                <a:solidFill>
                  <a:srgbClr val="009A9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multi-core architectures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More than one thread can </a:t>
            </a:r>
            <a:r>
              <a:rPr lang="en-US" altLang="zh-CN" b="1" dirty="0">
                <a:solidFill>
                  <a:srgbClr val="009A9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execute concurrently at the same time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software architecture of  Lucky Server: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729F2FF1-7009-4D8F-9B93-9EEB80D60A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4634" y="3490355"/>
            <a:ext cx="1549731" cy="1549731"/>
          </a:xfrm>
          <a:prstGeom prst="rect">
            <a:avLst/>
          </a:prstGeom>
        </p:spPr>
      </p:pic>
      <p:sp>
        <p:nvSpPr>
          <p:cNvPr id="9" name="箭头: 右 8">
            <a:extLst>
              <a:ext uri="{FF2B5EF4-FFF2-40B4-BE49-F238E27FC236}">
                <a16:creationId xmlns:a16="http://schemas.microsoft.com/office/drawing/2014/main" id="{38A97344-B5B7-4A88-8F6C-3CA0A65888CA}"/>
              </a:ext>
            </a:extLst>
          </p:cNvPr>
          <p:cNvSpPr/>
          <p:nvPr/>
        </p:nvSpPr>
        <p:spPr>
          <a:xfrm>
            <a:off x="2471474" y="4217735"/>
            <a:ext cx="2665019" cy="356260"/>
          </a:xfrm>
          <a:prstGeom prst="rightArrow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C2B45427-8E08-471B-8B46-510420CA0792}"/>
              </a:ext>
            </a:extLst>
          </p:cNvPr>
          <p:cNvSpPr/>
          <p:nvPr/>
        </p:nvSpPr>
        <p:spPr>
          <a:xfrm>
            <a:off x="2911755" y="3490355"/>
            <a:ext cx="1597231" cy="70658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latin typeface="Consolas" panose="020B0609020204030204" pitchFamily="49" charset="0"/>
              </a:rPr>
              <a:t>New Connection</a:t>
            </a:r>
            <a:endParaRPr lang="zh-CN" altLang="en-US" b="1" dirty="0">
              <a:latin typeface="Consolas" panose="020B0609020204030204" pitchFamily="49" charset="0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C4300D2-BAB3-4A64-BE4F-8F55296E824C}"/>
              </a:ext>
            </a:extLst>
          </p:cNvPr>
          <p:cNvSpPr/>
          <p:nvPr/>
        </p:nvSpPr>
        <p:spPr>
          <a:xfrm>
            <a:off x="5259802" y="3513398"/>
            <a:ext cx="2143496" cy="177694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latin typeface="Consolas" panose="020B0609020204030204" pitchFamily="49" charset="0"/>
              </a:rPr>
              <a:t>Event Loop</a:t>
            </a:r>
          </a:p>
          <a:p>
            <a:pPr algn="ctr"/>
            <a:endParaRPr lang="en-US" altLang="zh-CN" dirty="0"/>
          </a:p>
          <a:p>
            <a:pPr algn="ctr"/>
            <a:endParaRPr lang="en-US" altLang="zh-CN" dirty="0"/>
          </a:p>
          <a:p>
            <a:pPr algn="ctr"/>
            <a:endParaRPr lang="en-US" altLang="zh-CN" dirty="0"/>
          </a:p>
          <a:p>
            <a:pPr algn="ctr"/>
            <a:endParaRPr lang="en-US" altLang="zh-CN" dirty="0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B16CF390-BFB7-4F42-B437-41E4E7F0302F}"/>
              </a:ext>
            </a:extLst>
          </p:cNvPr>
          <p:cNvSpPr/>
          <p:nvPr/>
        </p:nvSpPr>
        <p:spPr>
          <a:xfrm>
            <a:off x="5427438" y="4241666"/>
            <a:ext cx="1852551" cy="819397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latin typeface="Consolas" panose="020B0609020204030204" pitchFamily="49" charset="0"/>
              </a:rPr>
              <a:t>Acceptor::</a:t>
            </a:r>
            <a:r>
              <a:rPr lang="en-US" altLang="zh-CN" b="1" dirty="0" err="1">
                <a:latin typeface="Consolas" panose="020B0609020204030204" pitchFamily="49" charset="0"/>
              </a:rPr>
              <a:t>AcceptConnection</a:t>
            </a:r>
            <a:endParaRPr lang="zh-CN" altLang="en-US" b="1" dirty="0">
              <a:latin typeface="Consolas" panose="020B0609020204030204" pitchFamily="49" charset="0"/>
            </a:endParaRPr>
          </a:p>
        </p:txBody>
      </p:sp>
      <p:sp>
        <p:nvSpPr>
          <p:cNvPr id="13" name="箭头: 右 12">
            <a:extLst>
              <a:ext uri="{FF2B5EF4-FFF2-40B4-BE49-F238E27FC236}">
                <a16:creationId xmlns:a16="http://schemas.microsoft.com/office/drawing/2014/main" id="{626EF9EB-930A-4167-A306-F3495C740568}"/>
              </a:ext>
            </a:extLst>
          </p:cNvPr>
          <p:cNvSpPr/>
          <p:nvPr/>
        </p:nvSpPr>
        <p:spPr>
          <a:xfrm rot="20561537">
            <a:off x="7589368" y="3637752"/>
            <a:ext cx="1808531" cy="296883"/>
          </a:xfrm>
          <a:prstGeom prst="rightArrow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3220D0B-EADF-469D-9D8D-6BBDB0E06AAA}"/>
              </a:ext>
            </a:extLst>
          </p:cNvPr>
          <p:cNvSpPr/>
          <p:nvPr/>
        </p:nvSpPr>
        <p:spPr>
          <a:xfrm>
            <a:off x="9478900" y="2600875"/>
            <a:ext cx="1727030" cy="149800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latin typeface="Consolas" panose="020B0609020204030204" pitchFamily="49" charset="0"/>
              </a:rPr>
              <a:t>Event Loop</a:t>
            </a:r>
          </a:p>
          <a:p>
            <a:pPr algn="ctr"/>
            <a:endParaRPr lang="en-US" altLang="zh-CN" dirty="0"/>
          </a:p>
          <a:p>
            <a:pPr algn="ctr"/>
            <a:endParaRPr lang="en-US" altLang="zh-CN" dirty="0"/>
          </a:p>
          <a:p>
            <a:pPr algn="ctr"/>
            <a:endParaRPr lang="en-US" altLang="zh-CN" dirty="0"/>
          </a:p>
          <a:p>
            <a:pPr algn="ctr"/>
            <a:endParaRPr lang="en-US" altLang="zh-CN" dirty="0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48352D3A-1ED1-4E59-879C-F7148D9DD75E}"/>
              </a:ext>
            </a:extLst>
          </p:cNvPr>
          <p:cNvSpPr/>
          <p:nvPr/>
        </p:nvSpPr>
        <p:spPr>
          <a:xfrm>
            <a:off x="9559712" y="3136355"/>
            <a:ext cx="1565406" cy="813460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latin typeface="Consolas" panose="020B0609020204030204" pitchFamily="49" charset="0"/>
              </a:rPr>
              <a:t>Server::</a:t>
            </a:r>
            <a:r>
              <a:rPr lang="en-US" altLang="zh-CN" b="1" dirty="0" err="1">
                <a:latin typeface="Consolas" panose="020B0609020204030204" pitchFamily="49" charset="0"/>
              </a:rPr>
              <a:t>OnConnect</a:t>
            </a:r>
            <a:endParaRPr lang="zh-CN" altLang="en-US" b="1" dirty="0">
              <a:latin typeface="Consolas" panose="020B0609020204030204" pitchFamily="49" charset="0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664A5A4E-8F83-4F01-8D62-B9E030719D8F}"/>
              </a:ext>
            </a:extLst>
          </p:cNvPr>
          <p:cNvSpPr txBox="1"/>
          <p:nvPr/>
        </p:nvSpPr>
        <p:spPr>
          <a:xfrm>
            <a:off x="558859" y="3120037"/>
            <a:ext cx="20212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>
                <a:latin typeface="Consolas" panose="020B0609020204030204" pitchFamily="49" charset="0"/>
              </a:rPr>
              <a:t>Browser</a:t>
            </a:r>
            <a:endParaRPr lang="zh-CN" altLang="en-US" dirty="0">
              <a:latin typeface="Consolas" panose="020B0609020204030204" pitchFamily="49" charset="0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692AD368-6F74-4630-A2F6-EA680CAA4180}"/>
              </a:ext>
            </a:extLst>
          </p:cNvPr>
          <p:cNvSpPr txBox="1"/>
          <p:nvPr/>
        </p:nvSpPr>
        <p:spPr>
          <a:xfrm>
            <a:off x="9298209" y="2062100"/>
            <a:ext cx="202127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Consolas" panose="020B0609020204030204" pitchFamily="49" charset="0"/>
              </a:rPr>
              <a:t>Sub Thread 1</a:t>
            </a:r>
          </a:p>
          <a:p>
            <a:pPr algn="ctr"/>
            <a:r>
              <a:rPr lang="en-US" altLang="zh-CN" sz="1400" dirty="0">
                <a:latin typeface="Consolas" panose="020B0609020204030204" pitchFamily="49" charset="0"/>
              </a:rPr>
              <a:t>(sub reactor)</a:t>
            </a:r>
            <a:endParaRPr lang="zh-CN" altLang="en-US" sz="1400" dirty="0">
              <a:latin typeface="Consolas" panose="020B0609020204030204" pitchFamily="49" charset="0"/>
            </a:endParaRPr>
          </a:p>
        </p:txBody>
      </p:sp>
      <p:sp>
        <p:nvSpPr>
          <p:cNvPr id="18" name="箭头: 右 17">
            <a:extLst>
              <a:ext uri="{FF2B5EF4-FFF2-40B4-BE49-F238E27FC236}">
                <a16:creationId xmlns:a16="http://schemas.microsoft.com/office/drawing/2014/main" id="{1B078564-1E0B-4665-A39A-9AD1610ECD65}"/>
              </a:ext>
            </a:extLst>
          </p:cNvPr>
          <p:cNvSpPr/>
          <p:nvPr/>
        </p:nvSpPr>
        <p:spPr>
          <a:xfrm>
            <a:off x="7635422" y="4280932"/>
            <a:ext cx="1716424" cy="296883"/>
          </a:xfrm>
          <a:prstGeom prst="rightArrow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FB631CFA-4AA6-4D0E-A8AB-7D2DA8225585}"/>
              </a:ext>
            </a:extLst>
          </p:cNvPr>
          <p:cNvSpPr txBox="1"/>
          <p:nvPr/>
        </p:nvSpPr>
        <p:spPr>
          <a:xfrm>
            <a:off x="9235044" y="4217735"/>
            <a:ext cx="20212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>
                <a:latin typeface="Consolas" panose="020B0609020204030204" pitchFamily="49" charset="0"/>
              </a:rPr>
              <a:t>...</a:t>
            </a:r>
            <a:endParaRPr lang="zh-CN" altLang="en-US" dirty="0">
              <a:latin typeface="Consolas" panose="020B0609020204030204" pitchFamily="49" charset="0"/>
            </a:endParaRPr>
          </a:p>
        </p:txBody>
      </p:sp>
      <p:sp>
        <p:nvSpPr>
          <p:cNvPr id="20" name="箭头: 右 19">
            <a:extLst>
              <a:ext uri="{FF2B5EF4-FFF2-40B4-BE49-F238E27FC236}">
                <a16:creationId xmlns:a16="http://schemas.microsoft.com/office/drawing/2014/main" id="{48580360-61D4-41AF-A873-0879B1871C49}"/>
              </a:ext>
            </a:extLst>
          </p:cNvPr>
          <p:cNvSpPr/>
          <p:nvPr/>
        </p:nvSpPr>
        <p:spPr>
          <a:xfrm rot="1247575">
            <a:off x="7595757" y="4931618"/>
            <a:ext cx="1808531" cy="296883"/>
          </a:xfrm>
          <a:prstGeom prst="rightArrow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F7AD7AFB-24CD-4DD3-BEDB-35BF9114092B}"/>
              </a:ext>
            </a:extLst>
          </p:cNvPr>
          <p:cNvSpPr/>
          <p:nvPr/>
        </p:nvSpPr>
        <p:spPr>
          <a:xfrm>
            <a:off x="9478900" y="4764974"/>
            <a:ext cx="1727030" cy="149800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atin typeface="Consolas" panose="020B0609020204030204" pitchFamily="49" charset="0"/>
              </a:rPr>
              <a:t>Event Loop</a:t>
            </a:r>
          </a:p>
          <a:p>
            <a:pPr algn="ctr"/>
            <a:endParaRPr lang="en-US" altLang="zh-CN" dirty="0"/>
          </a:p>
          <a:p>
            <a:pPr algn="ctr"/>
            <a:endParaRPr lang="en-US" altLang="zh-CN" dirty="0"/>
          </a:p>
          <a:p>
            <a:pPr algn="ctr"/>
            <a:endParaRPr lang="en-US" altLang="zh-CN" dirty="0"/>
          </a:p>
          <a:p>
            <a:pPr algn="ctr"/>
            <a:endParaRPr lang="en-US" altLang="zh-CN" dirty="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146F56A9-23E7-4A58-9F82-DAD127ECEE5E}"/>
              </a:ext>
            </a:extLst>
          </p:cNvPr>
          <p:cNvSpPr txBox="1"/>
          <p:nvPr/>
        </p:nvSpPr>
        <p:spPr>
          <a:xfrm>
            <a:off x="9333273" y="6284524"/>
            <a:ext cx="202127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Consolas" panose="020B0609020204030204" pitchFamily="49" charset="0"/>
              </a:rPr>
              <a:t>Sub Thread n</a:t>
            </a:r>
          </a:p>
          <a:p>
            <a:pPr algn="ctr"/>
            <a:r>
              <a:rPr lang="en-US" altLang="zh-CN" sz="1400" dirty="0">
                <a:latin typeface="Consolas" panose="020B0609020204030204" pitchFamily="49" charset="0"/>
              </a:rPr>
              <a:t>(sub reactor)</a:t>
            </a:r>
            <a:endParaRPr lang="zh-CN" altLang="en-US" sz="1400" dirty="0">
              <a:latin typeface="Consolas" panose="020B0609020204030204" pitchFamily="49" charset="0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4A3F6FF2-32A5-4E9F-8F3B-309C53AD65DC}"/>
              </a:ext>
            </a:extLst>
          </p:cNvPr>
          <p:cNvSpPr/>
          <p:nvPr/>
        </p:nvSpPr>
        <p:spPr>
          <a:xfrm>
            <a:off x="9559712" y="5332018"/>
            <a:ext cx="1565406" cy="813460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atin typeface="Consolas" panose="020B0609020204030204" pitchFamily="49" charset="0"/>
              </a:rPr>
              <a:t>Server::</a:t>
            </a:r>
            <a:r>
              <a:rPr lang="en-US" altLang="zh-CN" dirty="0" err="1">
                <a:latin typeface="Consolas" panose="020B0609020204030204" pitchFamily="49" charset="0"/>
              </a:rPr>
              <a:t>OnConnect</a:t>
            </a:r>
            <a:endParaRPr lang="zh-CN" altLang="en-US" dirty="0">
              <a:latin typeface="Consolas" panose="020B0609020204030204" pitchFamily="49" charset="0"/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34E51885-050C-4DA3-A1E9-C28FBCD60577}"/>
              </a:ext>
            </a:extLst>
          </p:cNvPr>
          <p:cNvSpPr txBox="1"/>
          <p:nvPr/>
        </p:nvSpPr>
        <p:spPr>
          <a:xfrm>
            <a:off x="5320910" y="2782669"/>
            <a:ext cx="20212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>
                <a:latin typeface="Consolas" panose="020B0609020204030204" pitchFamily="49" charset="0"/>
              </a:rPr>
              <a:t>Main Process</a:t>
            </a:r>
          </a:p>
          <a:p>
            <a:pPr algn="ctr"/>
            <a:r>
              <a:rPr lang="en-US" altLang="zh-CN" dirty="0">
                <a:latin typeface="Consolas" panose="020B0609020204030204" pitchFamily="49" charset="0"/>
              </a:rPr>
              <a:t>(main reactor)</a:t>
            </a:r>
            <a:endParaRPr lang="zh-CN" altLang="en-US" dirty="0">
              <a:latin typeface="Consolas" panose="020B0609020204030204" pitchFamily="49" charset="0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A274B5B3-4102-495A-BC40-0E0BDAB40901}"/>
              </a:ext>
            </a:extLst>
          </p:cNvPr>
          <p:cNvSpPr txBox="1"/>
          <p:nvPr/>
        </p:nvSpPr>
        <p:spPr>
          <a:xfrm>
            <a:off x="794634" y="6255781"/>
            <a:ext cx="860367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* In Lucky Server, </a:t>
            </a:r>
            <a:r>
              <a:rPr lang="en-US" altLang="zh-CN" sz="20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Event Loop </a:t>
            </a:r>
            <a:r>
              <a:rPr lang="en-US" altLang="zh-CN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 a further abstraction of the </a:t>
            </a:r>
            <a:r>
              <a:rPr lang="en-US" altLang="zh-CN" sz="20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epoll</a:t>
            </a:r>
            <a:r>
              <a:rPr lang="en-US" altLang="zh-CN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interface.</a:t>
            </a:r>
            <a:endParaRPr lang="zh-CN" altLang="en-US" sz="20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1728FD2-1E2D-456B-8B3F-BDD7AAAAFCED}"/>
              </a:ext>
            </a:extLst>
          </p:cNvPr>
          <p:cNvSpPr txBox="1"/>
          <p:nvPr/>
        </p:nvSpPr>
        <p:spPr>
          <a:xfrm>
            <a:off x="7778166" y="3643580"/>
            <a:ext cx="1333570" cy="1477328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algn="ctr"/>
            <a:r>
              <a:rPr lang="en-US" altLang="zh-CN" b="1" dirty="0">
                <a:solidFill>
                  <a:srgbClr val="FF0000"/>
                </a:solidFill>
                <a:latin typeface="Consolas" panose="020B0609020204030204" pitchFamily="49" charset="0"/>
              </a:rPr>
              <a:t>Randomly select an EventLoop to take over it.</a:t>
            </a:r>
            <a:endParaRPr lang="zh-CN" altLang="en-US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525911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6EC837-7D92-5E3B-9E37-0551E274E1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B6C0A98-F5E6-9532-24E2-F0C1EF5993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952" y="-142137"/>
            <a:ext cx="10515600" cy="1325563"/>
          </a:xfrm>
        </p:spPr>
        <p:txBody>
          <a:bodyPr>
            <a:normAutofit/>
          </a:bodyPr>
          <a:lstStyle/>
          <a:p>
            <a:r>
              <a:rPr lang="en-US" altLang="zh-CN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Engineering: </a:t>
            </a:r>
            <a:r>
              <a:rPr lang="en-US" altLang="zh-CN" sz="3600" b="1" dirty="0">
                <a:latin typeface="方正大标宋简体" panose="02010601030101010101" pitchFamily="2" charset="-122"/>
                <a:ea typeface="方正大标宋简体" panose="02010601030101010101" pitchFamily="2" charset="-122"/>
              </a:rPr>
              <a:t>Make some little test tools </a:t>
            </a:r>
            <a:endParaRPr lang="zh-CN" altLang="en-US" sz="3600" b="1" dirty="0">
              <a:ea typeface="方正大标宋简体" panose="02010601030101010101" pitchFamily="2" charset="-122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4798EC1-CD57-E6A2-A348-B87170AF78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7447" y="945264"/>
            <a:ext cx="7350589" cy="5479287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 made some tools to </a:t>
            </a:r>
            <a:r>
              <a:rPr lang="en-US" altLang="zh-CN" sz="2400" b="1" dirty="0">
                <a:solidFill>
                  <a:srgbClr val="009A9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verify the core components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of </a:t>
            </a:r>
            <a:r>
              <a:rPr lang="en-US" altLang="zh-CN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Lucky Server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during development.</a:t>
            </a:r>
          </a:p>
          <a:p>
            <a:pPr>
              <a:lnSpc>
                <a:spcPct val="150000"/>
              </a:lnSpc>
            </a:pPr>
            <a:r>
              <a:rPr lang="en-US" altLang="zh-CN" sz="2400" b="1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Echo_server</a:t>
            </a:r>
            <a:r>
              <a:rPr lang="en-US" altLang="zh-CN" sz="24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&amp; </a:t>
            </a:r>
            <a:r>
              <a:rPr lang="en-US" altLang="zh-CN" sz="2400" b="1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Single_client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Can we </a:t>
            </a:r>
            <a:r>
              <a:rPr lang="en-US" altLang="zh-CN" sz="2400" b="1" dirty="0">
                <a:solidFill>
                  <a:srgbClr val="009A9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build the connection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between our server and a client?</a:t>
            </a:r>
          </a:p>
          <a:p>
            <a:pPr>
              <a:lnSpc>
                <a:spcPct val="150000"/>
              </a:lnSpc>
            </a:pPr>
            <a:r>
              <a:rPr lang="en-US" altLang="zh-CN" sz="2400" b="1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Test_thread_pool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Can our </a:t>
            </a:r>
            <a:r>
              <a:rPr lang="en-US" altLang="zh-CN" sz="2400" b="1" dirty="0">
                <a:solidFill>
                  <a:srgbClr val="009A9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thread pool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work correctly? It’s the base of Reactor Pattern!</a:t>
            </a:r>
          </a:p>
          <a:p>
            <a:pPr>
              <a:lnSpc>
                <a:spcPct val="150000"/>
              </a:lnSpc>
            </a:pPr>
            <a:r>
              <a:rPr lang="en-US" altLang="zh-CN" sz="2400" b="1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Multiply_Client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Can our server </a:t>
            </a:r>
            <a:r>
              <a:rPr lang="en-US" altLang="zh-CN" sz="2400" b="1" dirty="0">
                <a:solidFill>
                  <a:srgbClr val="009A9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build connections with a plurality of clients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at the same time?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AF780697-E0DA-4E49-BB4D-01040C7170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3954" y="1516677"/>
            <a:ext cx="3041469" cy="3824646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489C5CA5-59BB-46B5-A589-1B0A19AC450A}"/>
              </a:ext>
            </a:extLst>
          </p:cNvPr>
          <p:cNvSpPr/>
          <p:nvPr/>
        </p:nvSpPr>
        <p:spPr>
          <a:xfrm>
            <a:off x="8959932" y="3010395"/>
            <a:ext cx="1520042" cy="255319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0CBC278-A270-4467-B9C4-5F4CF6AF0CE4}"/>
              </a:ext>
            </a:extLst>
          </p:cNvPr>
          <p:cNvSpPr/>
          <p:nvPr/>
        </p:nvSpPr>
        <p:spPr>
          <a:xfrm>
            <a:off x="8959931" y="3517572"/>
            <a:ext cx="1852551" cy="74567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832176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6EC837-7D92-5E3B-9E37-0551E274E1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B6C0A98-F5E6-9532-24E2-F0C1EF5993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951" y="-142137"/>
            <a:ext cx="11071999" cy="1325563"/>
          </a:xfrm>
        </p:spPr>
        <p:txBody>
          <a:bodyPr>
            <a:normAutofit/>
          </a:bodyPr>
          <a:lstStyle/>
          <a:p>
            <a:r>
              <a:rPr lang="en-US" altLang="zh-CN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Engineering: </a:t>
            </a:r>
            <a:r>
              <a:rPr lang="en-US" altLang="zh-CN" sz="3600" b="1" dirty="0">
                <a:latin typeface="方正大标宋简体" panose="02010601030101010101" pitchFamily="2" charset="-122"/>
                <a:ea typeface="方正大标宋简体" panose="02010601030101010101" pitchFamily="2" charset="-122"/>
              </a:rPr>
              <a:t>Project Progress Management</a:t>
            </a:r>
            <a:endParaRPr lang="zh-CN" altLang="en-US" sz="3600" b="1" dirty="0">
              <a:ea typeface="方正大标宋简体" panose="02010601030101010101" pitchFamily="2" charset="-122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4798EC1-CD57-E6A2-A348-B87170AF78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93292" y="945264"/>
            <a:ext cx="10752117" cy="3637024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en-US" altLang="zh-C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Managing Project Progress with </a:t>
            </a:r>
            <a:r>
              <a:rPr lang="en-US" altLang="zh-CN" sz="3200" b="1" dirty="0">
                <a:solidFill>
                  <a:srgbClr val="009A9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</a:p>
          <a:p>
            <a:pPr lvl="1">
              <a:lnSpc>
                <a:spcPct val="150000"/>
              </a:lnSpc>
            </a:pPr>
            <a:r>
              <a:rPr lang="en-US" altLang="zh-C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Tracking changes and commits</a:t>
            </a:r>
          </a:p>
          <a:p>
            <a:pPr lvl="1">
              <a:lnSpc>
                <a:spcPct val="150000"/>
              </a:lnSpc>
            </a:pPr>
            <a:r>
              <a:rPr lang="en-US" altLang="zh-C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Branching and merging strategies</a:t>
            </a:r>
          </a:p>
          <a:p>
            <a:pPr lvl="1">
              <a:lnSpc>
                <a:spcPct val="150000"/>
              </a:lnSpc>
            </a:pPr>
            <a:r>
              <a:rPr lang="en-US" altLang="zh-C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Collaborating with team members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en-US" altLang="zh-C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through pull requests</a:t>
            </a:r>
            <a:endParaRPr lang="zh-CN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5AAA5EBF-F1E9-4C27-5D87-5A3AA8B59C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8165" y="945264"/>
            <a:ext cx="3465613" cy="5427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90238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ACB56B-B2CB-794D-64BC-2A76E2BBD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图片 25">
            <a:extLst>
              <a:ext uri="{FF2B5EF4-FFF2-40B4-BE49-F238E27FC236}">
                <a16:creationId xmlns:a16="http://schemas.microsoft.com/office/drawing/2014/main" id="{117262B2-ED73-82F1-0059-F2AF360E23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9906" y="2408549"/>
            <a:ext cx="5930735" cy="3637024"/>
          </a:xfrm>
          <a:prstGeom prst="rect">
            <a:avLst/>
          </a:prstGeom>
        </p:spPr>
      </p:pic>
      <p:sp>
        <p:nvSpPr>
          <p:cNvPr id="2" name="标题 1">
            <a:extLst>
              <a:ext uri="{FF2B5EF4-FFF2-40B4-BE49-F238E27FC236}">
                <a16:creationId xmlns:a16="http://schemas.microsoft.com/office/drawing/2014/main" id="{60899F4A-E104-FC45-5FE2-07AD856364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952" y="-142137"/>
            <a:ext cx="10515600" cy="1325563"/>
          </a:xfrm>
        </p:spPr>
        <p:txBody>
          <a:bodyPr/>
          <a:lstStyle/>
          <a:p>
            <a:r>
              <a:rPr lang="en-US" altLang="zh-CN" b="1" dirty="0">
                <a:latin typeface="方正大标宋简体" panose="02010601030101010101" pitchFamily="2" charset="-122"/>
                <a:ea typeface="方正大标宋简体" panose="02010601030101010101" pitchFamily="2" charset="-122"/>
              </a:rPr>
              <a:t>Code Review: </a:t>
            </a:r>
            <a:r>
              <a:rPr lang="en-US" altLang="zh-CN" sz="4000" b="1" dirty="0">
                <a:latin typeface="方正大标宋简体" panose="02010601030101010101" pitchFamily="2" charset="-122"/>
                <a:ea typeface="方正大标宋简体" panose="02010601030101010101" pitchFamily="2" charset="-122"/>
              </a:rPr>
              <a:t>Google C++ Style Guide</a:t>
            </a:r>
            <a:endParaRPr lang="zh-CN" altLang="en-US" sz="4000" b="1" dirty="0">
              <a:ea typeface="方正大标宋简体" panose="02010601030101010101" pitchFamily="2" charset="-122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0F26D4B-7952-370A-39B5-CE28636F33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93292" y="945264"/>
            <a:ext cx="10752117" cy="3637024"/>
          </a:xfrm>
        </p:spPr>
        <p:txBody>
          <a:bodyPr/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Header Files and Scoping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Class Design and Function Best Practices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Naming, Commenting, and Formatting Guidelines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11AB205-0EB2-4DFF-9C98-8BBC428DE5C1}"/>
              </a:ext>
            </a:extLst>
          </p:cNvPr>
          <p:cNvSpPr txBox="1"/>
          <p:nvPr/>
        </p:nvSpPr>
        <p:spPr>
          <a:xfrm>
            <a:off x="794633" y="6368597"/>
            <a:ext cx="988128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* Please refer to https://www.yiyibooks.cn/yiyibooks/Google_CPP_Style_Guide/index.html</a:t>
            </a:r>
            <a:endParaRPr lang="zh-CN" altLang="en-US" sz="20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9801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ACB56B-B2CB-794D-64BC-2A76E2BBD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0899F4A-E104-FC45-5FE2-07AD856364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952" y="-142137"/>
            <a:ext cx="10515600" cy="1325563"/>
          </a:xfrm>
        </p:spPr>
        <p:txBody>
          <a:bodyPr/>
          <a:lstStyle/>
          <a:p>
            <a:r>
              <a:rPr lang="en-US" altLang="zh-CN" b="1" dirty="0">
                <a:latin typeface="方正大标宋简体" panose="02010601030101010101" pitchFamily="2" charset="-122"/>
                <a:ea typeface="方正大标宋简体" panose="02010601030101010101" pitchFamily="2" charset="-122"/>
              </a:rPr>
              <a:t>Code Review: </a:t>
            </a:r>
            <a:r>
              <a:rPr lang="en-US" altLang="zh-CN" sz="4000" b="1" dirty="0">
                <a:latin typeface="方正大标宋简体" panose="02010601030101010101" pitchFamily="2" charset="-122"/>
                <a:ea typeface="方正大标宋简体" panose="02010601030101010101" pitchFamily="2" charset="-122"/>
              </a:rPr>
              <a:t>Google C++ Style Guide</a:t>
            </a:r>
            <a:endParaRPr lang="zh-CN" altLang="en-US" sz="4000" b="1" dirty="0">
              <a:ea typeface="方正大标宋简体" panose="02010601030101010101" pitchFamily="2" charset="-122"/>
            </a:endParaRP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A8086636-4F43-4E5B-A2E2-FD0C451712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2881"/>
            <a:ext cx="12192000" cy="6472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5311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3021CA-2B1C-55EC-471F-1305B5E796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B7F83C4-E5E0-96BA-633E-F18A895C31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952" y="-142137"/>
            <a:ext cx="10515600" cy="1325563"/>
          </a:xfrm>
        </p:spPr>
        <p:txBody>
          <a:bodyPr/>
          <a:lstStyle/>
          <a:p>
            <a:r>
              <a:rPr lang="en-US" altLang="zh-CN" b="1" dirty="0">
                <a:latin typeface="方正大标宋简体" panose="02010601030101010101" pitchFamily="2" charset="-122"/>
                <a:ea typeface="方正大标宋简体" panose="02010601030101010101" pitchFamily="2" charset="-122"/>
              </a:rPr>
              <a:t>Code Review: </a:t>
            </a:r>
            <a:r>
              <a:rPr lang="en-US" altLang="zh-CN" sz="4000" b="1" dirty="0">
                <a:latin typeface="方正大标宋简体" panose="02010601030101010101" pitchFamily="2" charset="-122"/>
                <a:ea typeface="方正大标宋简体" panose="02010601030101010101" pitchFamily="2" charset="-122"/>
              </a:rPr>
              <a:t>Memory Leak Detection</a:t>
            </a:r>
            <a:endParaRPr lang="zh-CN" altLang="en-US" sz="4000" b="1" dirty="0">
              <a:ea typeface="方正大标宋简体" panose="02010601030101010101" pitchFamily="2" charset="-122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AD72CFF-E211-22DD-AB09-4FF35DBD42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93292" y="945264"/>
            <a:ext cx="10752117" cy="3637024"/>
          </a:xfrm>
        </p:spPr>
        <p:txBody>
          <a:bodyPr/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Running </a:t>
            </a:r>
            <a:r>
              <a:rPr lang="en-US" altLang="zh-CN" b="1" dirty="0" err="1">
                <a:solidFill>
                  <a:srgbClr val="009A9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Valgrind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on the C++ project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Interpreting the results and identifying leak sources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Fixing memory leaks based on 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Valgrind's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reports</a:t>
            </a:r>
          </a:p>
          <a:p>
            <a:pPr marL="0" indent="0">
              <a:buNone/>
            </a:pP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7" name="图片 26">
            <a:extLst>
              <a:ext uri="{FF2B5EF4-FFF2-40B4-BE49-F238E27FC236}">
                <a16:creationId xmlns:a16="http://schemas.microsoft.com/office/drawing/2014/main" id="{73997124-B5DE-D949-119F-768110EA17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0592" y="2546599"/>
            <a:ext cx="7806971" cy="4071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15789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CEB5E64-0D5C-4235-8380-F8084BC73B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77837" y="2766218"/>
            <a:ext cx="4636325" cy="1325563"/>
          </a:xfrm>
        </p:spPr>
        <p:txBody>
          <a:bodyPr>
            <a:normAutofit/>
          </a:bodyPr>
          <a:lstStyle/>
          <a:p>
            <a:r>
              <a:rPr lang="en-US" altLang="zh-CN" sz="6600" dirty="0">
                <a:latin typeface="方正大标宋简体" panose="02010601030101010101" pitchFamily="2" charset="-122"/>
                <a:ea typeface="方正大标宋简体" panose="02010601030101010101" pitchFamily="2" charset="-122"/>
              </a:rPr>
              <a:t>Thank You</a:t>
            </a:r>
            <a:endParaRPr lang="zh-CN" altLang="en-US" sz="6600" dirty="0">
              <a:latin typeface="方正大标宋简体" panose="02010601030101010101" pitchFamily="2" charset="-122"/>
              <a:ea typeface="方正大标宋简体" panose="02010601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872301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CAEACE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228</TotalTime>
  <Words>670</Words>
  <Application>Microsoft Office PowerPoint</Application>
  <PresentationFormat>宽屏</PresentationFormat>
  <Paragraphs>105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20" baseType="lpstr">
      <vt:lpstr>阿里巴巴普惠体 2.0 55 Regular</vt:lpstr>
      <vt:lpstr>等线</vt:lpstr>
      <vt:lpstr>等线 Light</vt:lpstr>
      <vt:lpstr>方正大标宋简体</vt:lpstr>
      <vt:lpstr>Arial</vt:lpstr>
      <vt:lpstr>Consolas</vt:lpstr>
      <vt:lpstr>Times New Roman</vt:lpstr>
      <vt:lpstr>Office 主题​​</vt:lpstr>
      <vt:lpstr>《系统设计与开发实践》结对项目 开发经验分享</vt:lpstr>
      <vt:lpstr>Summary</vt:lpstr>
      <vt:lpstr>Technology: Epoll</vt:lpstr>
      <vt:lpstr>Technology: Epoll</vt:lpstr>
      <vt:lpstr>Technology: Epoll</vt:lpstr>
      <vt:lpstr>Technology: Reactor Pattern</vt:lpstr>
      <vt:lpstr>Engineering: Make some little test tools </vt:lpstr>
      <vt:lpstr>Engineering: Project Progress Management</vt:lpstr>
      <vt:lpstr>Code Review: Google C++ Style Guide</vt:lpstr>
      <vt:lpstr>Code Review: Google C++ Style Guide</vt:lpstr>
      <vt:lpstr>Code Review: Memory Leak Detection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Lucky Server</dc:title>
  <dc:creator>R P</dc:creator>
  <cp:lastModifiedBy>R P</cp:lastModifiedBy>
  <cp:revision>152</cp:revision>
  <dcterms:created xsi:type="dcterms:W3CDTF">2024-10-18T14:58:42Z</dcterms:created>
  <dcterms:modified xsi:type="dcterms:W3CDTF">2024-10-21T03:14:19Z</dcterms:modified>
</cp:coreProperties>
</file>