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7" r:id="rId3"/>
    <p:sldId id="258" r:id="rId4"/>
    <p:sldId id="259" r:id="rId5"/>
    <p:sldId id="260" r:id="rId6"/>
    <p:sldId id="261" r:id="rId7"/>
    <p:sldId id="265" r:id="rId8"/>
    <p:sldId id="263" r:id="rId9"/>
    <p:sldId id="26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A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44" d="100"/>
          <a:sy n="44" d="100"/>
        </p:scale>
        <p:origin x="24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DD1078-0959-4EAF-8C52-F611DF7E5D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1BC978E-583E-4F41-B445-A97B7B2630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3A6EB7-E51C-466A-BC87-A2C11E59F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C14AD-157C-4B19-B926-4C213759CBF9}" type="datetimeFigureOut">
              <a:rPr lang="zh-CN" altLang="en-US" smtClean="0"/>
              <a:t>2024-10-19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3D3150-F1DD-4249-BA76-0A0696896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34F03F-06FB-4317-B3FC-66DF88EBC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5C274-C3B8-4449-B497-FD264158C7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9939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6C8C67-0918-434D-BCF2-9786B8E79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08C042-3F60-46CA-B1FB-9A78FBEEAC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4F6A20-0CA8-4F0B-88B3-55552F74D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C14AD-157C-4B19-B926-4C213759CBF9}" type="datetimeFigureOut">
              <a:rPr lang="zh-CN" altLang="en-US" smtClean="0"/>
              <a:t>2024-10-19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0F42F8-1DB5-4D11-8645-FCE56BE30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71421B-AAF1-4AC2-A9A4-19B2B651D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5C274-C3B8-4449-B497-FD264158C7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3200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33EAB6-D641-4326-8C73-2C6616D87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2F0C95-752E-4A14-85FE-C7AA6FE0A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1BED3A-E180-43FA-B2D0-24DDC8EE0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C14AD-157C-4B19-B926-4C213759CBF9}" type="datetimeFigureOut">
              <a:rPr lang="zh-CN" altLang="en-US" smtClean="0"/>
              <a:t>2024-10-19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C50FA6-F06D-4423-A71C-22B9B1F17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6BEBAC-BAB7-4F73-BE6E-199F79607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5C274-C3B8-4449-B497-FD264158C7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1563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02C949-5B27-4734-8EC5-69F02CA4D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368F8E-58BB-48D5-8756-2E2D6FBB8E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13FADAD-14CC-4B83-9EC9-82A5FD8937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E6014ED-284E-4AF0-A328-6964CE3F2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C14AD-157C-4B19-B926-4C213759CBF9}" type="datetimeFigureOut">
              <a:rPr lang="zh-CN" altLang="en-US" smtClean="0"/>
              <a:t>2024-10-19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E9BC95D-2A0F-4C39-91F3-10F2427B7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33706A1-2369-49E9-93DE-C562A880C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5C274-C3B8-4449-B497-FD264158C7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4157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801D93-8333-4FDE-B059-D1C7D1906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09F1445-6DCB-4459-B290-C0377DA72B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D37BC6C-A5C2-4B10-AC4E-AF7B127552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0B32D58-EC01-44F0-BB13-BF659C10D4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9011EDE-2FA2-4FC3-A6A9-871A29C994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6D7107A-A723-4DF8-8B0B-092F402B5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C14AD-157C-4B19-B926-4C213759CBF9}" type="datetimeFigureOut">
              <a:rPr lang="zh-CN" altLang="en-US" smtClean="0"/>
              <a:t>2024-10-19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20FBCEA-6A34-45E3-8179-2A68592AB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A730714-8F0C-4C5E-A882-7333A8BC0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5C274-C3B8-4449-B497-FD264158C7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293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F90A43-8177-477E-8A37-C620348DE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628E558-2967-44D0-B958-8CA99221C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C14AD-157C-4B19-B926-4C213759CBF9}" type="datetimeFigureOut">
              <a:rPr lang="zh-CN" altLang="en-US" smtClean="0"/>
              <a:t>2024-10-19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3D1704E-3546-468F-8561-364B3CFD2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F941A84-966E-40F9-A540-92F0EF39F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5C274-C3B8-4449-B497-FD264158C7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2435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69FA1EE-3AD8-44A4-AFC8-7D6F601A7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C14AD-157C-4B19-B926-4C213759CBF9}" type="datetimeFigureOut">
              <a:rPr lang="zh-CN" altLang="en-US" smtClean="0"/>
              <a:t>2024-10-19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83AB701-775C-4C5D-AA85-FECDDA0AF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8412EA-C8EE-4041-84D2-2B29D057F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5C274-C3B8-4449-B497-FD264158C7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5397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549C59-BCFB-44C9-B58D-57700FAA3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A8ABF1-2EBE-4472-A967-2DBF9C40DA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98618D1-EECF-4270-B0F7-011199ED53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3556DA1-7BD5-4AF1-8969-CBE0A2E40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C14AD-157C-4B19-B926-4C213759CBF9}" type="datetimeFigureOut">
              <a:rPr lang="zh-CN" altLang="en-US" smtClean="0"/>
              <a:t>2024-10-19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0B06826-2186-40C6-A528-2668CB3E5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A730101-13C6-4B23-9708-BBF4FA342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5C274-C3B8-4449-B497-FD264158C7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5215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A8610F-0DA9-4C73-A836-6909C7633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ADFEECD-E34F-445A-A7AF-42D28F6159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537B740-A6D0-4C29-A8EC-5E7004CB71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D8102BA-B13B-46A2-8F80-103EFC3C9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C14AD-157C-4B19-B926-4C213759CBF9}" type="datetimeFigureOut">
              <a:rPr lang="zh-CN" altLang="en-US" smtClean="0"/>
              <a:t>2024-10-19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9EEE465-A58A-43C7-B99D-C743EF39F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206FCDE-A6D0-4A5E-8D58-523ECEEBB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5C274-C3B8-4449-B497-FD264158C7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6801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2BA35F-EB0E-4435-97DB-04AF17077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FB42F76-1F99-407C-974F-F79E54CD2C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938FDD-E98D-4674-ACBE-3B44AE65C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C14AD-157C-4B19-B926-4C213759CBF9}" type="datetimeFigureOut">
              <a:rPr lang="zh-CN" altLang="en-US" smtClean="0"/>
              <a:t>2024-10-19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650BBE-7493-48AE-A0FB-B68A02760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F40E7F-C4BC-480E-A775-4A966BD99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5C274-C3B8-4449-B497-FD264158C7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3785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17CB05B-7C17-4F18-AEF4-C6482ABF6A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05FDCFC-1ACC-4020-89AC-60C617EBEF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4A8DB3-0AA3-472B-8F3F-2AB343AB4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C14AD-157C-4B19-B926-4C213759CBF9}" type="datetimeFigureOut">
              <a:rPr lang="zh-CN" altLang="en-US" smtClean="0"/>
              <a:t>2024-10-19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EB001D-6750-4B52-9216-6A26D3D00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0A9F3B-A032-48AA-B27F-24ABAC024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5C274-C3B8-4449-B497-FD264158C7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1967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04274F7-5BDE-4B0B-BFD1-0F067ED6F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8D75B38-B569-426C-9A35-5A2C8D3CB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BF6249-F31C-4571-AC7C-D635ADD146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8C14AD-157C-4B19-B926-4C213759CBF9}" type="datetimeFigureOut">
              <a:rPr lang="zh-CN" altLang="en-US" smtClean="0"/>
              <a:t>2024-10-19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9C0785-3CE2-44C7-9F14-9B4D0C28D4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BADAE6-DA90-40BF-8D79-40BE3A93AF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65C274-C3B8-4449-B497-FD264158C7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0643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 sz="3600" b="1" dirty="0">
                <a:latin typeface="方正大标宋简体" panose="02000000000000000000" charset="-122"/>
                <a:ea typeface="方正大标宋简体" panose="02000000000000000000" charset="-122"/>
              </a:rPr>
              <a:t>《系统设计与开发实践》结对项目</a:t>
            </a:r>
            <a:br>
              <a:rPr lang="en-US" altLang="zh-CN" sz="3600" b="1" dirty="0">
                <a:latin typeface="方正大标宋简体" panose="02000000000000000000" charset="-122"/>
                <a:ea typeface="方正大标宋简体" panose="02000000000000000000" charset="-122"/>
              </a:rPr>
            </a:br>
            <a:r>
              <a:rPr lang="zh-CN" altLang="en-US" sz="3600" b="1" dirty="0">
                <a:latin typeface="方正大标宋简体" panose="02000000000000000000" charset="-122"/>
                <a:ea typeface="方正大标宋简体" panose="02000000000000000000" charset="-122"/>
              </a:rPr>
              <a:t>开发经验分享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952360"/>
            <a:ext cx="9144000" cy="1655762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阿里巴巴普惠体 2.0 55 Regular" panose="00020600040101010101" charset="-122"/>
                <a:ea typeface="阿里巴巴普惠体 2.0 55 Regular" panose="00020600040101010101" charset="-122"/>
              </a:rPr>
              <a:t>Lucky Server - a Toy Web Server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8CA2B9-F072-4965-91E6-FBBA9EF4C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方正大标宋简体" panose="02010601030101010101" pitchFamily="2" charset="-122"/>
                <a:ea typeface="方正大标宋简体" panose="02010601030101010101" pitchFamily="2" charset="-122"/>
                <a:cs typeface="Times New Roman" panose="02020603050405020304" pitchFamily="18" charset="0"/>
              </a:rPr>
              <a:t>Summary</a:t>
            </a:r>
            <a:endParaRPr lang="zh-CN" altLang="en-US" b="1" dirty="0">
              <a:latin typeface="方正大标宋简体" panose="02010601030101010101" pitchFamily="2" charset="-122"/>
              <a:ea typeface="方正大标宋简体" panose="02010601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157EBC-8EA8-4B5C-8674-DE1659432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technologies we used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Epoll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Reactor Pattern</a:t>
            </a:r>
          </a:p>
          <a:p>
            <a:pPr marL="0" indent="0">
              <a:buNone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engineering experience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GitHub for version management 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Valgrind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check memory leak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Google's C++ code style guide to standardize coding 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7772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65D7AB-2A40-449F-954F-3429687B9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Technology:</a:t>
            </a:r>
            <a:r>
              <a:rPr lang="zh-CN" altLang="en-US" b="1" dirty="0"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 </a:t>
            </a:r>
            <a:r>
              <a:rPr lang="en-US" altLang="zh-CN" b="1" dirty="0"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Epoll</a:t>
            </a:r>
            <a:endParaRPr lang="zh-CN" altLang="en-US" b="1" dirty="0">
              <a:latin typeface="方正大标宋简体" panose="02010601030101010101" pitchFamily="2" charset="-122"/>
              <a:ea typeface="方正大标宋简体" panose="02010601030101010101" pitchFamily="2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5D709B-CA66-46E1-99BC-5AE7CAE9C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846615" cy="4351338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What’s the disadvantage of simple </a:t>
            </a:r>
            <a:r>
              <a:rPr lang="en-US" altLang="zh-CN" b="1" dirty="0">
                <a:solidFill>
                  <a:srgbClr val="009A9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synchronous blocking network I/O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?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 one connection can block our process!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73E38AD-5C28-4E0C-A5E5-A3D20B27E7D9}"/>
              </a:ext>
            </a:extLst>
          </p:cNvPr>
          <p:cNvSpPr txBox="1"/>
          <p:nvPr/>
        </p:nvSpPr>
        <p:spPr>
          <a:xfrm>
            <a:off x="5444339" y="1843881"/>
            <a:ext cx="5909461" cy="397031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int main(int </a:t>
            </a:r>
            <a:r>
              <a:rPr lang="en-US" altLang="zh-CN" dirty="0" err="1">
                <a:latin typeface="Consolas" panose="020B0609020204030204" pitchFamily="49" charset="0"/>
              </a:rPr>
              <a:t>argc</a:t>
            </a:r>
            <a:r>
              <a:rPr lang="en-US" altLang="zh-CN" dirty="0">
                <a:latin typeface="Consolas" panose="020B0609020204030204" pitchFamily="49" charset="0"/>
              </a:rPr>
              <a:t>, char **</a:t>
            </a:r>
            <a:r>
              <a:rPr lang="en-US" altLang="zh-CN" dirty="0" err="1">
                <a:latin typeface="Consolas" panose="020B0609020204030204" pitchFamily="49" charset="0"/>
              </a:rPr>
              <a:t>argv</a:t>
            </a:r>
            <a:r>
              <a:rPr lang="en-US" altLang="zh-CN" dirty="0">
                <a:latin typeface="Consolas" panose="020B0609020204030204" pitchFamily="49" charset="0"/>
              </a:rPr>
              <a:t>)  {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int </a:t>
            </a:r>
            <a:r>
              <a:rPr lang="en-US" altLang="zh-CN" dirty="0" err="1">
                <a:latin typeface="Consolas" panose="020B0609020204030204" pitchFamily="49" charset="0"/>
              </a:rPr>
              <a:t>listenfd</a:t>
            </a:r>
            <a:r>
              <a:rPr lang="en-US" altLang="zh-CN" dirty="0">
                <a:latin typeface="Consolas" panose="020B0609020204030204" pitchFamily="49" charset="0"/>
              </a:rPr>
              <a:t>, </a:t>
            </a:r>
            <a:r>
              <a:rPr lang="en-US" altLang="zh-CN" dirty="0" err="1">
                <a:latin typeface="Consolas" panose="020B0609020204030204" pitchFamily="49" charset="0"/>
              </a:rPr>
              <a:t>connfd</a:t>
            </a:r>
            <a:r>
              <a:rPr lang="en-US" altLang="zh-CN" dirty="0">
                <a:latin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latin typeface="Consolas" panose="020B0609020204030204" pitchFamily="49" charset="0"/>
              </a:rPr>
              <a:t>socklen_t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en-US" altLang="zh-CN" dirty="0" err="1">
                <a:latin typeface="Consolas" panose="020B0609020204030204" pitchFamily="49" charset="0"/>
              </a:rPr>
              <a:t>clientlen</a:t>
            </a:r>
            <a:r>
              <a:rPr lang="en-US" altLang="zh-CN" dirty="0">
                <a:latin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struct </a:t>
            </a:r>
            <a:r>
              <a:rPr lang="en-US" altLang="zh-CN" dirty="0" err="1">
                <a:latin typeface="Consolas" panose="020B0609020204030204" pitchFamily="49" charset="0"/>
              </a:rPr>
              <a:t>sockaddr_storage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en-US" altLang="zh-CN" dirty="0" err="1">
                <a:latin typeface="Consolas" panose="020B0609020204030204" pitchFamily="49" charset="0"/>
              </a:rPr>
              <a:t>clientaddr</a:t>
            </a:r>
            <a:r>
              <a:rPr lang="en-US" altLang="zh-CN" dirty="0">
                <a:latin typeface="Consolas" panose="020B0609020204030204" pitchFamily="49" charset="0"/>
              </a:rPr>
              <a:t>;</a:t>
            </a: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latin typeface="Consolas" panose="020B0609020204030204" pitchFamily="49" charset="0"/>
              </a:rPr>
              <a:t>listenfd</a:t>
            </a:r>
            <a:r>
              <a:rPr lang="en-US" altLang="zh-CN" dirty="0">
                <a:latin typeface="Consolas" panose="020B0609020204030204" pitchFamily="49" charset="0"/>
              </a:rPr>
              <a:t> = </a:t>
            </a:r>
            <a:r>
              <a:rPr lang="en-US" altLang="zh-CN" dirty="0" err="1">
                <a:latin typeface="Consolas" panose="020B0609020204030204" pitchFamily="49" charset="0"/>
              </a:rPr>
              <a:t>Open_listenfd</a:t>
            </a:r>
            <a:r>
              <a:rPr lang="en-US" altLang="zh-CN" dirty="0"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latin typeface="Consolas" panose="020B0609020204030204" pitchFamily="49" charset="0"/>
              </a:rPr>
              <a:t>argv</a:t>
            </a:r>
            <a:r>
              <a:rPr lang="en-US" altLang="zh-CN" dirty="0">
                <a:latin typeface="Consolas" panose="020B0609020204030204" pitchFamily="49" charset="0"/>
              </a:rPr>
              <a:t>[1]);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while (1) {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	</a:t>
            </a:r>
            <a:r>
              <a:rPr lang="en-US" altLang="zh-CN" dirty="0" err="1">
                <a:latin typeface="Consolas" panose="020B0609020204030204" pitchFamily="49" charset="0"/>
              </a:rPr>
              <a:t>clientlen</a:t>
            </a:r>
            <a:r>
              <a:rPr lang="en-US" altLang="zh-CN" dirty="0">
                <a:latin typeface="Consolas" panose="020B0609020204030204" pitchFamily="49" charset="0"/>
              </a:rPr>
              <a:t> = </a:t>
            </a:r>
            <a:r>
              <a:rPr lang="en-US" altLang="zh-CN" dirty="0" err="1">
                <a:latin typeface="Consolas" panose="020B0609020204030204" pitchFamily="49" charset="0"/>
              </a:rPr>
              <a:t>sizeof</a:t>
            </a:r>
            <a:r>
              <a:rPr lang="en-US" altLang="zh-CN" dirty="0"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latin typeface="Consolas" panose="020B0609020204030204" pitchFamily="49" charset="0"/>
              </a:rPr>
              <a:t>clientaddr</a:t>
            </a:r>
            <a:r>
              <a:rPr lang="en-US" altLang="zh-CN" dirty="0">
                <a:latin typeface="Consolas" panose="020B0609020204030204" pitchFamily="49" charset="0"/>
              </a:rPr>
              <a:t>);</a:t>
            </a:r>
          </a:p>
          <a:p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	</a:t>
            </a:r>
            <a:r>
              <a:rPr lang="en-US" altLang="zh-CN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connfd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 = Accept(</a:t>
            </a:r>
            <a:r>
              <a:rPr lang="en-US" altLang="zh-CN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listenfd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, &amp;</a:t>
            </a:r>
            <a:r>
              <a:rPr lang="en-US" altLang="zh-CN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clientaddr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, &amp;</a:t>
            </a:r>
            <a:r>
              <a:rPr lang="en-US" altLang="zh-CN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clientlen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); 	</a:t>
            </a:r>
          </a:p>
          <a:p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       doit(</a:t>
            </a:r>
            <a:r>
              <a:rPr lang="en-US" altLang="zh-CN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connfd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	Close(</a:t>
            </a:r>
            <a:r>
              <a:rPr lang="en-US" altLang="zh-CN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connfd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); 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}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}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1B3BF63-DEA5-4BE9-B0A8-D30E3EF9F9CF}"/>
              </a:ext>
            </a:extLst>
          </p:cNvPr>
          <p:cNvSpPr txBox="1"/>
          <p:nvPr/>
        </p:nvSpPr>
        <p:spPr>
          <a:xfrm>
            <a:off x="5444339" y="1456293"/>
            <a:ext cx="5472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spc="-150" dirty="0">
                <a:latin typeface="Consolas" panose="020B0609020204030204" pitchFamily="49" charset="0"/>
                <a:cs typeface="Times New Roman" panose="02020603050405020304" pitchFamily="18" charset="0"/>
              </a:rPr>
              <a:t>a tiny web server </a:t>
            </a:r>
            <a:r>
              <a:rPr lang="en-US" altLang="zh-CN" b="1" i="1" spc="-150" dirty="0">
                <a:latin typeface="Consolas" panose="020B0609020204030204" pitchFamily="49" charset="0"/>
                <a:cs typeface="Times New Roman" panose="02020603050405020304" pitchFamily="18" charset="0"/>
              </a:rPr>
              <a:t>pseudo code</a:t>
            </a:r>
            <a:r>
              <a:rPr lang="en-US" altLang="zh-CN" i="1" spc="-150" dirty="0">
                <a:latin typeface="Consolas" panose="020B0609020204030204" pitchFamily="49" charset="0"/>
                <a:cs typeface="Times New Roman" panose="02020603050405020304" pitchFamily="18" charset="0"/>
              </a:rPr>
              <a:t>, from CSAPP</a:t>
            </a:r>
            <a:endParaRPr lang="zh-CN" altLang="en-US" i="1" spc="-150" dirty="0"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739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65D7AB-2A40-449F-954F-3429687B9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Technology:</a:t>
            </a:r>
            <a:r>
              <a:rPr lang="zh-CN" altLang="en-US" b="1" dirty="0"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 </a:t>
            </a:r>
            <a:r>
              <a:rPr lang="en-US" altLang="zh-CN" b="1" dirty="0"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Epoll</a:t>
            </a:r>
            <a:endParaRPr lang="zh-CN" altLang="en-US" b="1" dirty="0">
              <a:latin typeface="方正大标宋简体" panose="02010601030101010101" pitchFamily="2" charset="-122"/>
              <a:ea typeface="方正大标宋简体" panose="02010601030101010101" pitchFamily="2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5D709B-CA66-46E1-99BC-5AE7CAE9C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846615" cy="4351338"/>
          </a:xfrm>
        </p:spPr>
        <p:txBody>
          <a:bodyPr/>
          <a:lstStyle/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epoll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</a:t>
            </a:r>
            <a:r>
              <a:rPr lang="en-US" altLang="zh-CN" b="1" dirty="0">
                <a:solidFill>
                  <a:srgbClr val="009A9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scalable I/O event notification mechanism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provided since Linux kernel 2.5.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use it in a web server program?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it work?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73E38AD-5C28-4E0C-A5E5-A3D20B27E7D9}"/>
              </a:ext>
            </a:extLst>
          </p:cNvPr>
          <p:cNvSpPr txBox="1"/>
          <p:nvPr/>
        </p:nvSpPr>
        <p:spPr>
          <a:xfrm>
            <a:off x="5794383" y="1462137"/>
            <a:ext cx="6121392" cy="507831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int </a:t>
            </a:r>
            <a:r>
              <a:rPr lang="en-US" altLang="zh-CN" dirty="0" err="1">
                <a:latin typeface="Consolas" panose="020B0609020204030204" pitchFamily="49" charset="0"/>
              </a:rPr>
              <a:t>sockfd</a:t>
            </a:r>
            <a:r>
              <a:rPr lang="en-US" altLang="zh-CN" dirty="0">
                <a:latin typeface="Consolas" panose="020B0609020204030204" pitchFamily="49" charset="0"/>
              </a:rPr>
              <a:t> = socket();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int </a:t>
            </a:r>
            <a:r>
              <a:rPr lang="en-US" altLang="zh-CN" dirty="0" err="1">
                <a:latin typeface="Consolas" panose="020B0609020204030204" pitchFamily="49" charset="0"/>
              </a:rPr>
              <a:t>epoll</a:t>
            </a:r>
            <a:r>
              <a:rPr lang="en-US" altLang="zh-CN" dirty="0">
                <a:latin typeface="Consolas" panose="020B0609020204030204" pitchFamily="49" charset="0"/>
              </a:rPr>
              <a:t> = </a:t>
            </a:r>
            <a:r>
              <a:rPr lang="en-US" altLang="zh-CN" dirty="0" err="1">
                <a:latin typeface="Consolas" panose="020B0609020204030204" pitchFamily="49" charset="0"/>
              </a:rPr>
              <a:t>epoll_create</a:t>
            </a:r>
            <a:r>
              <a:rPr lang="en-US" altLang="zh-CN" dirty="0">
                <a:latin typeface="Consolas" panose="020B0609020204030204" pitchFamily="49" charset="0"/>
              </a:rPr>
              <a:t>();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// bind and listen...</a:t>
            </a:r>
          </a:p>
          <a:p>
            <a:r>
              <a:rPr lang="en-US" altLang="zh-CN" dirty="0" err="1">
                <a:latin typeface="Consolas" panose="020B0609020204030204" pitchFamily="49" charset="0"/>
              </a:rPr>
              <a:t>epoll.add</a:t>
            </a:r>
            <a:r>
              <a:rPr lang="en-US" altLang="zh-CN" dirty="0"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latin typeface="Consolas" panose="020B0609020204030204" pitchFamily="49" charset="0"/>
              </a:rPr>
              <a:t>sockfd</a:t>
            </a:r>
            <a:r>
              <a:rPr lang="en-US" altLang="zh-CN" dirty="0">
                <a:latin typeface="Consolas" panose="020B0609020204030204" pitchFamily="49" charset="0"/>
              </a:rPr>
              <a:t>);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while(true) {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auto events = </a:t>
            </a:r>
            <a:r>
              <a:rPr lang="en-US" altLang="zh-CN" dirty="0" err="1">
                <a:latin typeface="Consolas" panose="020B0609020204030204" pitchFamily="49" charset="0"/>
              </a:rPr>
              <a:t>epoll_wait</a:t>
            </a:r>
            <a:r>
              <a:rPr lang="en-US" altLang="zh-CN" dirty="0"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latin typeface="Consolas" panose="020B0609020204030204" pitchFamily="49" charset="0"/>
              </a:rPr>
              <a:t>epfd</a:t>
            </a:r>
            <a:r>
              <a:rPr lang="en-US" altLang="zh-CN" dirty="0">
                <a:latin typeface="Consolas" panose="020B0609020204030204" pitchFamily="49" charset="0"/>
              </a:rPr>
              <a:t>...);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for(auto </a:t>
            </a:r>
            <a:r>
              <a:rPr lang="en-US" altLang="zh-CN" dirty="0" err="1">
                <a:latin typeface="Consolas" panose="020B0609020204030204" pitchFamily="49" charset="0"/>
              </a:rPr>
              <a:t>cur_event</a:t>
            </a:r>
            <a:r>
              <a:rPr lang="en-US" altLang="zh-CN" dirty="0">
                <a:latin typeface="Consolas" panose="020B0609020204030204" pitchFamily="49" charset="0"/>
              </a:rPr>
              <a:t>&amp; : events){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    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// server socket accepts new connection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    if(</a:t>
            </a:r>
            <a:r>
              <a:rPr lang="en-US" altLang="zh-CN" dirty="0" err="1">
                <a:latin typeface="Consolas" panose="020B0609020204030204" pitchFamily="49" charset="0"/>
              </a:rPr>
              <a:t>cur_event.fd</a:t>
            </a:r>
            <a:r>
              <a:rPr lang="en-US" altLang="zh-CN" dirty="0">
                <a:latin typeface="Consolas" panose="020B0609020204030204" pitchFamily="49" charset="0"/>
              </a:rPr>
              <a:t> == </a:t>
            </a:r>
            <a:r>
              <a:rPr lang="en-US" altLang="zh-CN" dirty="0" err="1">
                <a:latin typeface="Consolas" panose="020B0609020204030204" pitchFamily="49" charset="0"/>
              </a:rPr>
              <a:t>sockfd</a:t>
            </a:r>
            <a:r>
              <a:rPr lang="en-US" altLang="zh-CN" dirty="0">
                <a:latin typeface="Consolas" panose="020B0609020204030204" pitchFamily="49" charset="0"/>
              </a:rPr>
              <a:t>){</a:t>
            </a:r>
          </a:p>
          <a:p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            int </a:t>
            </a:r>
            <a:r>
              <a:rPr lang="en-US" altLang="zh-CN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client_sockfd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 = accept(</a:t>
            </a:r>
            <a:r>
              <a:rPr lang="en-US" altLang="zh-CN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sockfd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            </a:t>
            </a:r>
            <a:r>
              <a:rPr lang="en-US" altLang="zh-CN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epoll.add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sockfd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    }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    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// new data is sent to some connection 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    else {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        </a:t>
            </a:r>
            <a:r>
              <a:rPr lang="en-US" altLang="zh-CN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handleEvent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cur_event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    }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}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}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1B7CBE2-EDD2-43AE-B145-569852BB5D19}"/>
              </a:ext>
            </a:extLst>
          </p:cNvPr>
          <p:cNvSpPr txBox="1"/>
          <p:nvPr/>
        </p:nvSpPr>
        <p:spPr>
          <a:xfrm>
            <a:off x="5794383" y="1027906"/>
            <a:ext cx="5472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spc="-150" dirty="0">
                <a:latin typeface="Consolas" panose="020B0609020204030204" pitchFamily="49" charset="0"/>
                <a:cs typeface="Times New Roman" panose="02020603050405020304" pitchFamily="18" charset="0"/>
              </a:rPr>
              <a:t>a </a:t>
            </a:r>
            <a:r>
              <a:rPr lang="en-US" altLang="zh-CN" b="1" i="1" spc="-150" dirty="0">
                <a:latin typeface="Consolas" panose="020B0609020204030204" pitchFamily="49" charset="0"/>
                <a:cs typeface="Times New Roman" panose="02020603050405020304" pitchFamily="18" charset="0"/>
              </a:rPr>
              <a:t>pseudo code</a:t>
            </a:r>
            <a:r>
              <a:rPr lang="en-US" altLang="zh-CN" i="1" spc="-150" dirty="0">
                <a:latin typeface="Consolas" panose="020B0609020204030204" pitchFamily="49" charset="0"/>
                <a:cs typeface="Times New Roman" panose="02020603050405020304" pitchFamily="18" charset="0"/>
              </a:rPr>
              <a:t> of how to use </a:t>
            </a:r>
            <a:r>
              <a:rPr lang="en-US" altLang="zh-CN" i="1" spc="-150" dirty="0" err="1">
                <a:latin typeface="Consolas" panose="020B0609020204030204" pitchFamily="49" charset="0"/>
                <a:cs typeface="Times New Roman" panose="02020603050405020304" pitchFamily="18" charset="0"/>
              </a:rPr>
              <a:t>epoll</a:t>
            </a:r>
            <a:r>
              <a:rPr lang="en-US" altLang="zh-CN" i="1" spc="-150" dirty="0">
                <a:latin typeface="Consolas" panose="020B0609020204030204" pitchFamily="49" charset="0"/>
                <a:cs typeface="Times New Roman" panose="02020603050405020304" pitchFamily="18" charset="0"/>
              </a:rPr>
              <a:t> in web server</a:t>
            </a:r>
            <a:endParaRPr lang="zh-CN" altLang="en-US" i="1" spc="-150" dirty="0"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1151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65D7AB-2A40-449F-954F-3429687B9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125" y="108743"/>
            <a:ext cx="10515600" cy="1325563"/>
          </a:xfrm>
        </p:spPr>
        <p:txBody>
          <a:bodyPr/>
          <a:lstStyle/>
          <a:p>
            <a:r>
              <a:rPr lang="en-US" altLang="zh-CN" b="1" dirty="0"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Technology:</a:t>
            </a:r>
            <a:r>
              <a:rPr lang="zh-CN" altLang="en-US" b="1" dirty="0"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 </a:t>
            </a:r>
            <a:r>
              <a:rPr lang="en-US" altLang="zh-CN" b="1" dirty="0"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Epoll</a:t>
            </a:r>
            <a:endParaRPr lang="zh-CN" altLang="en-US" b="1" dirty="0">
              <a:latin typeface="方正大标宋简体" panose="02010601030101010101" pitchFamily="2" charset="-122"/>
              <a:ea typeface="方正大标宋简体" panose="02010601030101010101" pitchFamily="2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5D709B-CA66-46E1-99BC-5AE7CAE9C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86943" cy="4351338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Epoll </a:t>
            </a:r>
            <a:r>
              <a:rPr lang="en-US" altLang="zh-CN" b="1" dirty="0">
                <a:solidFill>
                  <a:srgbClr val="009A9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takes over all the sockets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web server itself and the client connections.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Epoll treats the socket receiving new data as an </a:t>
            </a:r>
            <a:r>
              <a:rPr lang="en-US" altLang="zh-CN" b="1" dirty="0">
                <a:solidFill>
                  <a:srgbClr val="009A9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stores the events in a private queue.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Epoll </a:t>
            </a:r>
            <a:r>
              <a:rPr lang="en-US" altLang="zh-CN" b="1" dirty="0">
                <a:solidFill>
                  <a:srgbClr val="009A9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all collected events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epoll_wait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function, so that we can know which sockets to read data from </a:t>
            </a:r>
            <a:r>
              <a:rPr lang="en-US" altLang="zh-CN" b="1" dirty="0">
                <a:solidFill>
                  <a:srgbClr val="009A9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once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4AE85E2B-9EB6-4188-8E4B-E287DF55F65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607594" cy="3607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47064A9-05B1-4E8D-A07A-E7FB689CF1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97196" y="892969"/>
            <a:ext cx="6416763" cy="5599905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05E03605-A315-4777-9CCF-7A38F9AA27D6}"/>
              </a:ext>
            </a:extLst>
          </p:cNvPr>
          <p:cNvSpPr/>
          <p:nvPr/>
        </p:nvSpPr>
        <p:spPr>
          <a:xfrm>
            <a:off x="8258175" y="3200399"/>
            <a:ext cx="1557338" cy="1593057"/>
          </a:xfrm>
          <a:prstGeom prst="rect">
            <a:avLst/>
          </a:prstGeom>
          <a:noFill/>
          <a:ln w="38100">
            <a:solidFill>
              <a:srgbClr val="009A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203AC9F-0B5D-4760-80EF-D4A8706324CE}"/>
              </a:ext>
            </a:extLst>
          </p:cNvPr>
          <p:cNvSpPr/>
          <p:nvPr/>
        </p:nvSpPr>
        <p:spPr>
          <a:xfrm>
            <a:off x="8258175" y="938671"/>
            <a:ext cx="1687409" cy="1416782"/>
          </a:xfrm>
          <a:prstGeom prst="rect">
            <a:avLst/>
          </a:prstGeom>
          <a:noFill/>
          <a:ln w="38100">
            <a:solidFill>
              <a:srgbClr val="009A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2854D752-2008-4347-BE75-DF2F06EFF409}"/>
              </a:ext>
            </a:extLst>
          </p:cNvPr>
          <p:cNvSpPr/>
          <p:nvPr/>
        </p:nvSpPr>
        <p:spPr>
          <a:xfrm rot="495850">
            <a:off x="4462887" y="3452674"/>
            <a:ext cx="3791877" cy="238787"/>
          </a:xfrm>
          <a:prstGeom prst="rightArrow">
            <a:avLst/>
          </a:prstGeom>
          <a:solidFill>
            <a:srgbClr val="009A9A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CEF60ECD-4964-4EA2-9DF6-9565CF3A621B}"/>
              </a:ext>
            </a:extLst>
          </p:cNvPr>
          <p:cNvSpPr/>
          <p:nvPr/>
        </p:nvSpPr>
        <p:spPr>
          <a:xfrm rot="19134877">
            <a:off x="4587492" y="3415003"/>
            <a:ext cx="4148312" cy="266969"/>
          </a:xfrm>
          <a:prstGeom prst="rightArrow">
            <a:avLst/>
          </a:prstGeom>
          <a:solidFill>
            <a:srgbClr val="009A9A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2531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65D7AB-2A40-449F-954F-3429687B9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952" y="-142137"/>
            <a:ext cx="10515600" cy="1325563"/>
          </a:xfrm>
        </p:spPr>
        <p:txBody>
          <a:bodyPr/>
          <a:lstStyle/>
          <a:p>
            <a:r>
              <a:rPr lang="en-US" altLang="zh-CN" b="1" dirty="0"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Technology:</a:t>
            </a:r>
            <a:r>
              <a:rPr lang="zh-CN" altLang="en-US" b="1" dirty="0"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 </a:t>
            </a:r>
            <a:r>
              <a:rPr lang="en-US" altLang="zh-CN" b="1" dirty="0"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Reactor Pattern</a:t>
            </a:r>
            <a:endParaRPr lang="zh-CN" altLang="en-US" b="1" dirty="0">
              <a:latin typeface="方正大标宋简体" panose="02010601030101010101" pitchFamily="2" charset="-122"/>
              <a:ea typeface="方正大标宋简体" panose="02010601030101010101" pitchFamily="2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5D709B-CA66-46E1-99BC-5AE7CAE9C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3292" y="945264"/>
            <a:ext cx="10752117" cy="3637024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CPUs are </a:t>
            </a:r>
            <a:r>
              <a:rPr lang="en-US" altLang="zh-CN" b="1" dirty="0">
                <a:solidFill>
                  <a:srgbClr val="009A9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multi-core architectures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than one thread can </a:t>
            </a:r>
            <a:r>
              <a:rPr lang="en-US" altLang="zh-CN" b="1" dirty="0">
                <a:solidFill>
                  <a:srgbClr val="009A9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execute concurrently at the same time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software architecture of  Lucky Server: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29F2FF1-7009-4D8F-9B93-9EEB80D60A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634" y="3490355"/>
            <a:ext cx="1549731" cy="1549731"/>
          </a:xfrm>
          <a:prstGeom prst="rect">
            <a:avLst/>
          </a:prstGeom>
        </p:spPr>
      </p:pic>
      <p:sp>
        <p:nvSpPr>
          <p:cNvPr id="9" name="箭头: 右 8">
            <a:extLst>
              <a:ext uri="{FF2B5EF4-FFF2-40B4-BE49-F238E27FC236}">
                <a16:creationId xmlns:a16="http://schemas.microsoft.com/office/drawing/2014/main" id="{38A97344-B5B7-4A88-8F6C-3CA0A65888CA}"/>
              </a:ext>
            </a:extLst>
          </p:cNvPr>
          <p:cNvSpPr/>
          <p:nvPr/>
        </p:nvSpPr>
        <p:spPr>
          <a:xfrm>
            <a:off x="2471474" y="4217735"/>
            <a:ext cx="2665019" cy="356260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C2B45427-8E08-471B-8B46-510420CA0792}"/>
              </a:ext>
            </a:extLst>
          </p:cNvPr>
          <p:cNvSpPr/>
          <p:nvPr/>
        </p:nvSpPr>
        <p:spPr>
          <a:xfrm>
            <a:off x="2911755" y="3490355"/>
            <a:ext cx="1597231" cy="7065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Consolas" panose="020B0609020204030204" pitchFamily="49" charset="0"/>
              </a:rPr>
              <a:t>New Connection</a:t>
            </a:r>
            <a:endParaRPr lang="zh-CN" altLang="en-US" b="1" dirty="0">
              <a:latin typeface="Consolas" panose="020B0609020204030204" pitchFamily="49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C4300D2-BAB3-4A64-BE4F-8F55296E824C}"/>
              </a:ext>
            </a:extLst>
          </p:cNvPr>
          <p:cNvSpPr/>
          <p:nvPr/>
        </p:nvSpPr>
        <p:spPr>
          <a:xfrm>
            <a:off x="5259802" y="3513398"/>
            <a:ext cx="2143496" cy="17769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Consolas" panose="020B0609020204030204" pitchFamily="49" charset="0"/>
              </a:rPr>
              <a:t>Event Loop</a:t>
            </a:r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16CF390-BFB7-4F42-B437-41E4E7F0302F}"/>
              </a:ext>
            </a:extLst>
          </p:cNvPr>
          <p:cNvSpPr/>
          <p:nvPr/>
        </p:nvSpPr>
        <p:spPr>
          <a:xfrm>
            <a:off x="5427438" y="4241666"/>
            <a:ext cx="1852551" cy="81939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Consolas" panose="020B0609020204030204" pitchFamily="49" charset="0"/>
              </a:rPr>
              <a:t>Acceptor::</a:t>
            </a:r>
            <a:r>
              <a:rPr lang="en-US" altLang="zh-CN" b="1" dirty="0" err="1">
                <a:latin typeface="Consolas" panose="020B0609020204030204" pitchFamily="49" charset="0"/>
              </a:rPr>
              <a:t>AcceptConnection</a:t>
            </a:r>
            <a:endParaRPr lang="zh-CN" altLang="en-US" b="1" dirty="0">
              <a:latin typeface="Consolas" panose="020B0609020204030204" pitchFamily="49" charset="0"/>
            </a:endParaRPr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626EF9EB-930A-4167-A306-F3495C740568}"/>
              </a:ext>
            </a:extLst>
          </p:cNvPr>
          <p:cNvSpPr/>
          <p:nvPr/>
        </p:nvSpPr>
        <p:spPr>
          <a:xfrm rot="20561537">
            <a:off x="7589368" y="3637752"/>
            <a:ext cx="1808531" cy="296883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3220D0B-EADF-469D-9D8D-6BBDB0E06AAA}"/>
              </a:ext>
            </a:extLst>
          </p:cNvPr>
          <p:cNvSpPr/>
          <p:nvPr/>
        </p:nvSpPr>
        <p:spPr>
          <a:xfrm>
            <a:off x="9478900" y="2600875"/>
            <a:ext cx="1727030" cy="14980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Consolas" panose="020B0609020204030204" pitchFamily="49" charset="0"/>
              </a:rPr>
              <a:t>Event Loop</a:t>
            </a:r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8352D3A-1ED1-4E59-879C-F7148D9DD75E}"/>
              </a:ext>
            </a:extLst>
          </p:cNvPr>
          <p:cNvSpPr/>
          <p:nvPr/>
        </p:nvSpPr>
        <p:spPr>
          <a:xfrm>
            <a:off x="9559712" y="3136355"/>
            <a:ext cx="1565406" cy="81346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Consolas" panose="020B0609020204030204" pitchFamily="49" charset="0"/>
              </a:rPr>
              <a:t>Server::</a:t>
            </a:r>
            <a:r>
              <a:rPr lang="en-US" altLang="zh-CN" b="1" dirty="0" err="1">
                <a:latin typeface="Consolas" panose="020B0609020204030204" pitchFamily="49" charset="0"/>
              </a:rPr>
              <a:t>OnConnect</a:t>
            </a:r>
            <a:endParaRPr lang="zh-CN" altLang="en-US" b="1" dirty="0">
              <a:latin typeface="Consolas" panose="020B0609020204030204" pitchFamily="49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64A5A4E-8F83-4F01-8D62-B9E030719D8F}"/>
              </a:ext>
            </a:extLst>
          </p:cNvPr>
          <p:cNvSpPr txBox="1"/>
          <p:nvPr/>
        </p:nvSpPr>
        <p:spPr>
          <a:xfrm>
            <a:off x="558859" y="3120037"/>
            <a:ext cx="2021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Consolas" panose="020B0609020204030204" pitchFamily="49" charset="0"/>
              </a:rPr>
              <a:t>Browser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92AD368-6F74-4630-A2F6-EA680CAA4180}"/>
              </a:ext>
            </a:extLst>
          </p:cNvPr>
          <p:cNvSpPr txBox="1"/>
          <p:nvPr/>
        </p:nvSpPr>
        <p:spPr>
          <a:xfrm>
            <a:off x="9298209" y="2062100"/>
            <a:ext cx="20212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Consolas" panose="020B0609020204030204" pitchFamily="49" charset="0"/>
              </a:rPr>
              <a:t>Sub Thread 1</a:t>
            </a:r>
          </a:p>
          <a:p>
            <a:pPr algn="ctr"/>
            <a:r>
              <a:rPr lang="en-US" altLang="zh-CN" sz="1400" dirty="0">
                <a:latin typeface="Consolas" panose="020B0609020204030204" pitchFamily="49" charset="0"/>
              </a:rPr>
              <a:t>(sub reactor)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1B078564-1E0B-4665-A39A-9AD1610ECD65}"/>
              </a:ext>
            </a:extLst>
          </p:cNvPr>
          <p:cNvSpPr/>
          <p:nvPr/>
        </p:nvSpPr>
        <p:spPr>
          <a:xfrm>
            <a:off x="7635422" y="4280932"/>
            <a:ext cx="1716424" cy="296883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B631CFA-4AA6-4D0E-A8AB-7D2DA8225585}"/>
              </a:ext>
            </a:extLst>
          </p:cNvPr>
          <p:cNvSpPr txBox="1"/>
          <p:nvPr/>
        </p:nvSpPr>
        <p:spPr>
          <a:xfrm>
            <a:off x="9235044" y="4217735"/>
            <a:ext cx="2021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Consolas" panose="020B0609020204030204" pitchFamily="49" charset="0"/>
              </a:rPr>
              <a:t>...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20" name="箭头: 右 19">
            <a:extLst>
              <a:ext uri="{FF2B5EF4-FFF2-40B4-BE49-F238E27FC236}">
                <a16:creationId xmlns:a16="http://schemas.microsoft.com/office/drawing/2014/main" id="{48580360-61D4-41AF-A873-0879B1871C49}"/>
              </a:ext>
            </a:extLst>
          </p:cNvPr>
          <p:cNvSpPr/>
          <p:nvPr/>
        </p:nvSpPr>
        <p:spPr>
          <a:xfrm rot="1247575">
            <a:off x="7595757" y="4931618"/>
            <a:ext cx="1808531" cy="296883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7AD7AFB-24CD-4DD3-BEDB-35BF9114092B}"/>
              </a:ext>
            </a:extLst>
          </p:cNvPr>
          <p:cNvSpPr/>
          <p:nvPr/>
        </p:nvSpPr>
        <p:spPr>
          <a:xfrm>
            <a:off x="9478900" y="4764974"/>
            <a:ext cx="1727030" cy="14980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Consolas" panose="020B0609020204030204" pitchFamily="49" charset="0"/>
              </a:rPr>
              <a:t>Event Loop</a:t>
            </a:r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46F56A9-23E7-4A58-9F82-DAD127ECEE5E}"/>
              </a:ext>
            </a:extLst>
          </p:cNvPr>
          <p:cNvSpPr txBox="1"/>
          <p:nvPr/>
        </p:nvSpPr>
        <p:spPr>
          <a:xfrm>
            <a:off x="9333273" y="6284524"/>
            <a:ext cx="20212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Consolas" panose="020B0609020204030204" pitchFamily="49" charset="0"/>
              </a:rPr>
              <a:t>Sub Thread n</a:t>
            </a:r>
          </a:p>
          <a:p>
            <a:pPr algn="ctr"/>
            <a:r>
              <a:rPr lang="en-US" altLang="zh-CN" sz="1400" dirty="0">
                <a:latin typeface="Consolas" panose="020B0609020204030204" pitchFamily="49" charset="0"/>
              </a:rPr>
              <a:t>(sub reactor)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A3F6FF2-32A5-4E9F-8F3B-309C53AD65DC}"/>
              </a:ext>
            </a:extLst>
          </p:cNvPr>
          <p:cNvSpPr/>
          <p:nvPr/>
        </p:nvSpPr>
        <p:spPr>
          <a:xfrm>
            <a:off x="9559712" y="5332018"/>
            <a:ext cx="1565406" cy="81346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Consolas" panose="020B0609020204030204" pitchFamily="49" charset="0"/>
              </a:rPr>
              <a:t>Server::</a:t>
            </a:r>
            <a:r>
              <a:rPr lang="en-US" altLang="zh-CN" dirty="0" err="1">
                <a:latin typeface="Consolas" panose="020B0609020204030204" pitchFamily="49" charset="0"/>
              </a:rPr>
              <a:t>OnConnect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4E51885-050C-4DA3-A1E9-C28FBCD60577}"/>
              </a:ext>
            </a:extLst>
          </p:cNvPr>
          <p:cNvSpPr txBox="1"/>
          <p:nvPr/>
        </p:nvSpPr>
        <p:spPr>
          <a:xfrm>
            <a:off x="5320910" y="2782669"/>
            <a:ext cx="20212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Consolas" panose="020B0609020204030204" pitchFamily="49" charset="0"/>
              </a:rPr>
              <a:t>Main Process</a:t>
            </a:r>
          </a:p>
          <a:p>
            <a:pPr algn="ctr"/>
            <a:r>
              <a:rPr lang="en-US" altLang="zh-CN" dirty="0">
                <a:latin typeface="Consolas" panose="020B0609020204030204" pitchFamily="49" charset="0"/>
              </a:rPr>
              <a:t>(main reactor)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274B5B3-4102-495A-BC40-0E0BDAB40901}"/>
              </a:ext>
            </a:extLst>
          </p:cNvPr>
          <p:cNvSpPr txBox="1"/>
          <p:nvPr/>
        </p:nvSpPr>
        <p:spPr>
          <a:xfrm>
            <a:off x="794634" y="6255781"/>
            <a:ext cx="86036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In Lucky Server, 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Loop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further abstraction of the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epoll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interface.</a:t>
            </a:r>
            <a:endParaRPr lang="zh-CN" alt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1728FD2-1E2D-456B-8B3F-BDD7AAAAFCED}"/>
              </a:ext>
            </a:extLst>
          </p:cNvPr>
          <p:cNvSpPr txBox="1"/>
          <p:nvPr/>
        </p:nvSpPr>
        <p:spPr>
          <a:xfrm>
            <a:off x="7778166" y="3643580"/>
            <a:ext cx="1333570" cy="14773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Randomly select an EventLoop to take over it.</a:t>
            </a:r>
            <a:endParaRPr lang="zh-CN" altLang="en-US" b="1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2591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EC837-7D92-5E3B-9E37-0551E274E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6C0A98-F5E6-9532-24E2-F0C1EF599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952" y="-142137"/>
            <a:ext cx="10515600" cy="1325563"/>
          </a:xfrm>
        </p:spPr>
        <p:txBody>
          <a:bodyPr/>
          <a:lstStyle/>
          <a:p>
            <a:r>
              <a:rPr lang="en-US" altLang="zh-CN" b="1" dirty="0"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Project Progress Management</a:t>
            </a:r>
            <a:endParaRPr lang="zh-CN" altLang="en-US" sz="4000" b="1" dirty="0">
              <a:ea typeface="方正大标宋简体" panose="02010601030101010101" pitchFamily="2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798EC1-CD57-E6A2-A348-B87170AF78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3292" y="945264"/>
            <a:ext cx="10752117" cy="363702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Project Progress with </a:t>
            </a:r>
            <a:r>
              <a:rPr lang="en-US" altLang="zh-CN" sz="3200" b="1" dirty="0">
                <a:solidFill>
                  <a:srgbClr val="009A9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</a:p>
          <a:p>
            <a:pPr lvl="1"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Tracking changes and commits</a:t>
            </a:r>
          </a:p>
          <a:p>
            <a:pPr lvl="1"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Branching and merging strategies</a:t>
            </a:r>
          </a:p>
          <a:p>
            <a:pPr lvl="1"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Collaborating with team members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through pull requests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AAA5EBF-F1E9-4C27-5D87-5A3AA8B59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165" y="945264"/>
            <a:ext cx="3465613" cy="5427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023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CB56B-B2CB-794D-64BC-2A76E2BBD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>
            <a:extLst>
              <a:ext uri="{FF2B5EF4-FFF2-40B4-BE49-F238E27FC236}">
                <a16:creationId xmlns:a16="http://schemas.microsoft.com/office/drawing/2014/main" id="{117262B2-ED73-82F1-0059-F2AF360E2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364" y="2527302"/>
            <a:ext cx="6540309" cy="3637024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60899F4A-E104-FC45-5FE2-07AD85636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952" y="-142137"/>
            <a:ext cx="10515600" cy="1325563"/>
          </a:xfrm>
        </p:spPr>
        <p:txBody>
          <a:bodyPr/>
          <a:lstStyle/>
          <a:p>
            <a:r>
              <a:rPr lang="en-US" altLang="zh-CN" b="1" dirty="0"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Code Review: </a:t>
            </a:r>
            <a:r>
              <a:rPr lang="en-US" altLang="zh-CN" sz="4000" b="1" dirty="0"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Google C++ Style Guide</a:t>
            </a:r>
            <a:endParaRPr lang="zh-CN" altLang="en-US" sz="4000" b="1" dirty="0">
              <a:ea typeface="方正大标宋简体" panose="02010601030101010101" pitchFamily="2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F26D4B-7952-370A-39B5-CE28636F33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3292" y="945264"/>
            <a:ext cx="10752117" cy="3637024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Header Files and Scoping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Design and Function Best Practices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Naming, Commenting, and Formatting Guidelines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980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021CA-2B1C-55EC-471F-1305B5E79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7F83C4-E5E0-96BA-633E-F18A895C3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952" y="-142137"/>
            <a:ext cx="10515600" cy="1325563"/>
          </a:xfrm>
        </p:spPr>
        <p:txBody>
          <a:bodyPr/>
          <a:lstStyle/>
          <a:p>
            <a:r>
              <a:rPr lang="en-US" altLang="zh-CN" b="1" dirty="0"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Code Review: </a:t>
            </a:r>
            <a:r>
              <a:rPr lang="en-US" altLang="zh-CN" sz="4000" b="1" dirty="0"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Memory Leak Detection</a:t>
            </a:r>
            <a:endParaRPr lang="zh-CN" altLang="en-US" sz="4000" b="1" dirty="0">
              <a:ea typeface="方正大标宋简体" panose="02010601030101010101" pitchFamily="2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D72CFF-E211-22DD-AB09-4FF35DBD42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3292" y="945264"/>
            <a:ext cx="10752117" cy="3637024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Running </a:t>
            </a:r>
            <a:r>
              <a:rPr lang="en-US" altLang="zh-CN" b="1" dirty="0" err="1">
                <a:solidFill>
                  <a:srgbClr val="009A9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Valgrind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the C++ project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Interpreting the results and identifying leak sources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Fixing memory leaks based on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Valgrind's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reports</a:t>
            </a:r>
          </a:p>
          <a:p>
            <a:pPr marL="0" indent="0">
              <a:buNone/>
            </a:pP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73997124-B5DE-D949-119F-768110EA17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592" y="2546599"/>
            <a:ext cx="7806971" cy="4071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578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546</Words>
  <Application>Microsoft Office PowerPoint</Application>
  <PresentationFormat>宽屏</PresentationFormat>
  <Paragraphs>96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阿里巴巴普惠体 2.0 55 Regular</vt:lpstr>
      <vt:lpstr>等线</vt:lpstr>
      <vt:lpstr>等线 Light</vt:lpstr>
      <vt:lpstr>方正大标宋简体</vt:lpstr>
      <vt:lpstr>Arial</vt:lpstr>
      <vt:lpstr>Consolas</vt:lpstr>
      <vt:lpstr>Times New Roman</vt:lpstr>
      <vt:lpstr>Office 主题​​</vt:lpstr>
      <vt:lpstr>《系统设计与开发实践》结对项目 开发经验分享</vt:lpstr>
      <vt:lpstr>Summary</vt:lpstr>
      <vt:lpstr>Technology: Epoll</vt:lpstr>
      <vt:lpstr>Technology: Epoll</vt:lpstr>
      <vt:lpstr>Technology: Epoll</vt:lpstr>
      <vt:lpstr>Technology: Reactor Pattern</vt:lpstr>
      <vt:lpstr>Project Progress Management</vt:lpstr>
      <vt:lpstr>Code Review: Google C++ Style Guide</vt:lpstr>
      <vt:lpstr>Code Review: Memory Leak Detection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Lucky Server</dc:title>
  <dc:creator>R P</dc:creator>
  <cp:lastModifiedBy>Yilan Xu</cp:lastModifiedBy>
  <cp:revision>132</cp:revision>
  <dcterms:created xsi:type="dcterms:W3CDTF">2024-10-18T14:58:42Z</dcterms:created>
  <dcterms:modified xsi:type="dcterms:W3CDTF">2024-10-19T06:23:36Z</dcterms:modified>
</cp:coreProperties>
</file>